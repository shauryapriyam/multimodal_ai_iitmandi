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we're team [name], and this is FloodWatch, our entry for Track B, Mapping Flood Damage from Space. On 26 August 2026 a flood hit the Trishuli valley in Nepal. We asked: using only free satellite data, how fast can we tell where it hit, what was damaged, and who is cut off? One note up front: this is an educational prototype, and nothing here is field-verified.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After a flood, responders need three answers quickly. Where is the water or debris? Which buildings, roads and bridges are affected? And which communities can no longer reach a hospital? Cloud cover makes optical satellites unreliable in monsoon season, and remote valleys have little ground information. So we built around radar, which sees through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[0:45–1:25] You give FloodWatch a bounding box and a flood date. Step one: we compare Sentinel-1 radar from 16 August, before, and 28 August, after, same orbit track, so the images are directly comparable. Sentinel-2 optical was only 11.5 percent clear, so the pipeline correctly chose not to use it. Step two: we take buildings, roads and bridges from an OpenStreetMap snapshot dated 27 July, before the event, and count what overlaps the flood mask. Step three: we build a road graph, remove flooded segments, and check which settlements lose their route to a hospital. As a bonus, the Copernicus DEM traces the flood path down the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[1:25–1:45] We kept the data rules strict. Inputs are Sentinel-1, Sentinel-2, Copernicus DEM and pre-event OpenStreetMap. We trained no model, so no training dataset is involved. The Copernicus EMS reference maps, EMSR927, are used only in the final evaluation cell, to check our results afterwards, never as 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Here are the results for the Trishuli case. The detected flood area is 0.07 square kilometres. Of 2,660 buildings, 30 overlap the mask, and 15 more are at risk. Of 192.8 kilometres of road, 0.39 kilometres is hit. And of 18 bridges, one is hit. Note the mask contains radar-change, debris-affected areas only; no open water was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[2:30–2:55] Of 40 settlements, 24 had enough road data to analyse for hospital access. One village sits inside the flood zone and is flagged as cut off from the hospital. 14 settlements had no road within 500 metres, so we can't assess them, and we say so rather than guess. No town exists in the OSM data for this area, so town access was marked as not assessed. The flood-path trace lists five settlements along the valley, out to about 23 kilometres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[2:55–3:25] Our AI component is a situation-report copilot. A language model writes a short report in English and Nepali and answers questions, but it only sees facts.json, a file of numbers computed from the maps. Every number in its answer is checked against that file. If a number isn't there, the answer is rewritten, and if it still fails, we fall back to a fixed template. So the report can't invent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[3:25–3:50] We want to be upfront. Our detected area is much smaller than the EMSR927 reference, so we likely under-detect. Results depend strongly on thresholds: more permissive settings give a much larger area and more cut-off settlements. OpenStreetMap is thin in remote valleys, so cut-off results can hinge on a single road segment. And satellites revisit every few days, so this is not early warning. It's a fast first-look tool, not a replacement for field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[3:50–4:00] Next: calibrate thresholds against more events, add more data sources for roads, and validate in the field. Thank you, FloodWatch is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640080" y="1280160"/>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FloodWatch</a:t>
            </a:r>
            <a:endParaRPr lang="en-US" sz="5400" dirty="0"/>
          </a:p>
        </p:txBody>
      </p:sp>
      <p:sp>
        <p:nvSpPr>
          <p:cNvPr id="4" name="Text 2"/>
          <p:cNvSpPr txBox="1"/>
          <p:nvPr/>
        </p:nvSpPr>
        <p:spPr>
          <a:xfrm>
            <a:off x="640080" y="2194560"/>
            <a:ext cx="7863840" cy="457200"/>
          </a:xfrm>
          <a:prstGeom prst="rect">
            <a:avLst/>
          </a:prstGeom>
          <a:noFill/>
          <a:ln/>
        </p:spPr>
        <p:txBody>
          <a:bodyPr wrap="square" lIns="0" tIns="0" rIns="0" bIns="0" rtlCol="0" anchor="ctr"/>
          <a:lstStyle/>
          <a:p>
            <a:pPr indent="0" marL="0">
              <a:buNone/>
            </a:pPr>
            <a:r>
              <a:rPr lang="en-US" sz="2400" dirty="0">
                <a:solidFill>
                  <a:srgbClr val="1FB5A3"/>
                </a:solidFill>
                <a:latin typeface="Calibri" pitchFamily="34" charset="0"/>
                <a:ea typeface="Calibri" pitchFamily="34" charset="-122"/>
                <a:cs typeface="Calibri" pitchFamily="34" charset="-120"/>
              </a:rPr>
              <a:t>Mapping flood damage from space</a:t>
            </a:r>
            <a:endParaRPr lang="en-US" sz="2400" dirty="0"/>
          </a:p>
        </p:txBody>
      </p:sp>
      <p:sp>
        <p:nvSpPr>
          <p:cNvPr id="5" name="Text 3"/>
          <p:cNvSpPr txBox="1"/>
          <p:nvPr/>
        </p:nvSpPr>
        <p:spPr>
          <a:xfrm>
            <a:off x="640080" y="3017520"/>
            <a:ext cx="7863840" cy="1005840"/>
          </a:xfrm>
          <a:prstGeom prst="rect">
            <a:avLst/>
          </a:prstGeom>
          <a:noFill/>
          <a:ln/>
        </p:spPr>
        <p:txBody>
          <a:bodyPr wrap="square" lIns="0" tIns="0" rIns="0" bIns="0" rtlCol="0" anchor="ctr"/>
          <a:lstStyle/>
          <a:p>
            <a:pPr indent="0" marL="0">
              <a:buNone/>
            </a:pPr>
            <a:r>
              <a:rPr lang="en-US" sz="1500" dirty="0">
                <a:solidFill>
                  <a:srgbClr val="C9D6E2"/>
                </a:solidFill>
                <a:latin typeface="Calibri" pitchFamily="34" charset="0"/>
                <a:ea typeface="Calibri" pitchFamily="34" charset="-122"/>
                <a:cs typeface="Calibri" pitchFamily="34" charset="-120"/>
              </a:rPr>
              <a:t>Case study: Trishuli flood, Nepal, 26 August 2026</a:t>
            </a:r>
            <a:endParaRPr lang="en-US" sz="1500" dirty="0"/>
          </a:p>
          <a:p>
            <a:pPr indent="0" marL="0">
              <a:buNone/>
            </a:pPr>
            <a:r>
              <a:rPr lang="en-US" sz="1500" dirty="0">
                <a:solidFill>
                  <a:srgbClr val="C9D6E2"/>
                </a:solidFill>
                <a:latin typeface="Calibri" pitchFamily="34" charset="0"/>
                <a:ea typeface="Calibri" pitchFamily="34" charset="-122"/>
                <a:cs typeface="Calibri" pitchFamily="34" charset="-120"/>
              </a:rPr>
              <a:t>Multimodal AI Hackathon 2026 · Track B</a:t>
            </a:r>
            <a:endParaRPr lang="en-US" sz="1500" dirty="0"/>
          </a:p>
          <a:p>
            <a:pPr indent="0" marL="0">
              <a:buNone/>
            </a:pPr>
            <a:r>
              <a:rPr lang="en-US" sz="1500" dirty="0">
                <a:solidFill>
                  <a:srgbClr val="C9D6E2"/>
                </a:solidFill>
                <a:latin typeface="Calibri" pitchFamily="34" charset="0"/>
                <a:ea typeface="Calibri" pitchFamily="34" charset="-122"/>
                <a:cs typeface="Calibri" pitchFamily="34" charset="-120"/>
              </a:rPr>
              <a:t>Educational prototype, not field-verified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Floods hit fast, and information comes slowly</a:t>
            </a:r>
            <a:endParaRPr lang="en-US" sz="3000" dirty="0"/>
          </a:p>
        </p:txBody>
      </p:sp>
      <p:sp>
        <p:nvSpPr>
          <p:cNvPr id="5" name="Shape 2"/>
          <p:cNvSpPr/>
          <p:nvPr/>
        </p:nvSpPr>
        <p:spPr>
          <a:xfrm>
            <a:off x="548640" y="1371600"/>
            <a:ext cx="2606040" cy="2286000"/>
          </a:xfrm>
          <a:prstGeom prst="roundRect">
            <a:avLst>
              <a:gd name="adj" fmla="val 4000"/>
            </a:avLst>
          </a:prstGeom>
          <a:solidFill>
            <a:srgbClr val="FFFFFF"/>
          </a:solidFill>
          <a:ln w="12700">
            <a:solidFill>
              <a:srgbClr val="D5DEE6"/>
            </a:solidFill>
            <a:prstDash val="solid"/>
          </a:ln>
        </p:spPr>
      </p:sp>
      <p:sp>
        <p:nvSpPr>
          <p:cNvPr id="6" name="Text 3"/>
          <p:cNvSpPr txBox="1"/>
          <p:nvPr/>
        </p:nvSpPr>
        <p:spPr>
          <a:xfrm>
            <a:off x="777240" y="1554480"/>
            <a:ext cx="2194560" cy="548640"/>
          </a:xfrm>
          <a:prstGeom prst="rect">
            <a:avLst/>
          </a:prstGeom>
          <a:noFill/>
          <a:ln/>
        </p:spPr>
        <p:txBody>
          <a:bodyPr wrap="square" lIns="0" tIns="0" rIns="0" bIns="0" rtlCol="0" anchor="ctr"/>
          <a:lstStyle/>
          <a:p>
            <a:pPr indent="0" marL="0">
              <a:buNone/>
            </a:pPr>
            <a:r>
              <a:rPr lang="en-US" sz="2800" b="1" dirty="0">
                <a:solidFill>
                  <a:srgbClr val="1FB5A3"/>
                </a:solidFill>
                <a:latin typeface="Calibri" pitchFamily="34" charset="0"/>
                <a:ea typeface="Calibri" pitchFamily="34" charset="-122"/>
                <a:cs typeface="Calibri" pitchFamily="34" charset="-120"/>
              </a:rPr>
              <a:t>Where?</a:t>
            </a:r>
            <a:endParaRPr lang="en-US" sz="2800" dirty="0"/>
          </a:p>
        </p:txBody>
      </p:sp>
      <p:sp>
        <p:nvSpPr>
          <p:cNvPr id="7" name="Text 4"/>
          <p:cNvSpPr txBox="1"/>
          <p:nvPr/>
        </p:nvSpPr>
        <p:spPr>
          <a:xfrm>
            <a:off x="777240" y="2194560"/>
            <a:ext cx="2194560" cy="1280160"/>
          </a:xfrm>
          <a:prstGeom prst="rect">
            <a:avLst/>
          </a:prstGeom>
          <a:noFill/>
          <a:ln/>
        </p:spPr>
        <p:txBody>
          <a:bodyPr wrap="square" lIns="0" tIns="0" rIns="0" bIns="0" rtlCol="0" anchor="t"/>
          <a:lstStyle/>
          <a:p>
            <a:pPr indent="0" marL="0">
              <a:buNone/>
            </a:pPr>
            <a:r>
              <a:rPr lang="en-US" sz="1600" dirty="0">
                <a:solidFill>
                  <a:srgbClr val="12263A"/>
                </a:solidFill>
                <a:latin typeface="Calibri" pitchFamily="34" charset="0"/>
                <a:ea typeface="Calibri" pitchFamily="34" charset="-122"/>
                <a:cs typeface="Calibri" pitchFamily="34" charset="-120"/>
              </a:rPr>
              <a:t>Water and debris extent, even under monsoon cloud</a:t>
            </a:r>
            <a:endParaRPr lang="en-US" sz="1600" dirty="0"/>
          </a:p>
        </p:txBody>
      </p:sp>
      <p:sp>
        <p:nvSpPr>
          <p:cNvPr id="8" name="Shape 5"/>
          <p:cNvSpPr/>
          <p:nvPr/>
        </p:nvSpPr>
        <p:spPr>
          <a:xfrm>
            <a:off x="3337560" y="1371600"/>
            <a:ext cx="2606040" cy="2286000"/>
          </a:xfrm>
          <a:prstGeom prst="roundRect">
            <a:avLst>
              <a:gd name="adj" fmla="val 4000"/>
            </a:avLst>
          </a:prstGeom>
          <a:solidFill>
            <a:srgbClr val="FFFFFF"/>
          </a:solidFill>
          <a:ln w="12700">
            <a:solidFill>
              <a:srgbClr val="D5DEE6"/>
            </a:solidFill>
            <a:prstDash val="solid"/>
          </a:ln>
        </p:spPr>
      </p:sp>
      <p:sp>
        <p:nvSpPr>
          <p:cNvPr id="9" name="Text 6"/>
          <p:cNvSpPr txBox="1"/>
          <p:nvPr/>
        </p:nvSpPr>
        <p:spPr>
          <a:xfrm>
            <a:off x="3566160" y="1554480"/>
            <a:ext cx="2194560" cy="548640"/>
          </a:xfrm>
          <a:prstGeom prst="rect">
            <a:avLst/>
          </a:prstGeom>
          <a:noFill/>
          <a:ln/>
        </p:spPr>
        <p:txBody>
          <a:bodyPr wrap="square" lIns="0" tIns="0" rIns="0" bIns="0" rtlCol="0" anchor="ctr"/>
          <a:lstStyle/>
          <a:p>
            <a:pPr indent="0" marL="0">
              <a:buNone/>
            </a:pPr>
            <a:r>
              <a:rPr lang="en-US" sz="2800" b="1" dirty="0">
                <a:solidFill>
                  <a:srgbClr val="1FB5A3"/>
                </a:solidFill>
                <a:latin typeface="Calibri" pitchFamily="34" charset="0"/>
                <a:ea typeface="Calibri" pitchFamily="34" charset="-122"/>
                <a:cs typeface="Calibri" pitchFamily="34" charset="-120"/>
              </a:rPr>
              <a:t>What?</a:t>
            </a:r>
            <a:endParaRPr lang="en-US" sz="2800" dirty="0"/>
          </a:p>
        </p:txBody>
      </p:sp>
      <p:sp>
        <p:nvSpPr>
          <p:cNvPr id="10" name="Text 7"/>
          <p:cNvSpPr txBox="1"/>
          <p:nvPr/>
        </p:nvSpPr>
        <p:spPr>
          <a:xfrm>
            <a:off x="3566160" y="2194560"/>
            <a:ext cx="2194560" cy="1280160"/>
          </a:xfrm>
          <a:prstGeom prst="rect">
            <a:avLst/>
          </a:prstGeom>
          <a:noFill/>
          <a:ln/>
        </p:spPr>
        <p:txBody>
          <a:bodyPr wrap="square" lIns="0" tIns="0" rIns="0" bIns="0" rtlCol="0" anchor="t"/>
          <a:lstStyle/>
          <a:p>
            <a:pPr indent="0" marL="0">
              <a:buNone/>
            </a:pPr>
            <a:r>
              <a:rPr lang="en-US" sz="1600" dirty="0">
                <a:solidFill>
                  <a:srgbClr val="12263A"/>
                </a:solidFill>
                <a:latin typeface="Calibri" pitchFamily="34" charset="0"/>
                <a:ea typeface="Calibri" pitchFamily="34" charset="-122"/>
                <a:cs typeface="Calibri" pitchFamily="34" charset="-120"/>
              </a:rPr>
              <a:t>Buildings, roads and bridges affected</a:t>
            </a:r>
            <a:endParaRPr lang="en-US" sz="1600" dirty="0"/>
          </a:p>
        </p:txBody>
      </p:sp>
      <p:sp>
        <p:nvSpPr>
          <p:cNvPr id="11" name="Shape 8"/>
          <p:cNvSpPr/>
          <p:nvPr/>
        </p:nvSpPr>
        <p:spPr>
          <a:xfrm>
            <a:off x="6126480" y="1371600"/>
            <a:ext cx="2606040" cy="2286000"/>
          </a:xfrm>
          <a:prstGeom prst="roundRect">
            <a:avLst>
              <a:gd name="adj" fmla="val 4000"/>
            </a:avLst>
          </a:prstGeom>
          <a:solidFill>
            <a:srgbClr val="FFFFFF"/>
          </a:solidFill>
          <a:ln w="12700">
            <a:solidFill>
              <a:srgbClr val="D5DEE6"/>
            </a:solidFill>
            <a:prstDash val="solid"/>
          </a:ln>
        </p:spPr>
      </p:sp>
      <p:sp>
        <p:nvSpPr>
          <p:cNvPr id="12" name="Text 9"/>
          <p:cNvSpPr txBox="1"/>
          <p:nvPr/>
        </p:nvSpPr>
        <p:spPr>
          <a:xfrm>
            <a:off x="6355080" y="1554480"/>
            <a:ext cx="2194560" cy="548640"/>
          </a:xfrm>
          <a:prstGeom prst="rect">
            <a:avLst/>
          </a:prstGeom>
          <a:noFill/>
          <a:ln/>
        </p:spPr>
        <p:txBody>
          <a:bodyPr wrap="square" lIns="0" tIns="0" rIns="0" bIns="0" rtlCol="0" anchor="ctr"/>
          <a:lstStyle/>
          <a:p>
            <a:pPr indent="0" marL="0">
              <a:buNone/>
            </a:pPr>
            <a:r>
              <a:rPr lang="en-US" sz="2800" b="1" dirty="0">
                <a:solidFill>
                  <a:srgbClr val="1FB5A3"/>
                </a:solidFill>
                <a:latin typeface="Calibri" pitchFamily="34" charset="0"/>
                <a:ea typeface="Calibri" pitchFamily="34" charset="-122"/>
                <a:cs typeface="Calibri" pitchFamily="34" charset="-120"/>
              </a:rPr>
              <a:t>Who?</a:t>
            </a:r>
            <a:endParaRPr lang="en-US" sz="2800" dirty="0"/>
          </a:p>
        </p:txBody>
      </p:sp>
      <p:sp>
        <p:nvSpPr>
          <p:cNvPr id="13" name="Text 10"/>
          <p:cNvSpPr txBox="1"/>
          <p:nvPr/>
        </p:nvSpPr>
        <p:spPr>
          <a:xfrm>
            <a:off x="6355080" y="2194560"/>
            <a:ext cx="2194560" cy="1280160"/>
          </a:xfrm>
          <a:prstGeom prst="rect">
            <a:avLst/>
          </a:prstGeom>
          <a:noFill/>
          <a:ln/>
        </p:spPr>
        <p:txBody>
          <a:bodyPr wrap="square" lIns="0" tIns="0" rIns="0" bIns="0" rtlCol="0" anchor="t"/>
          <a:lstStyle/>
          <a:p>
            <a:pPr indent="0" marL="0">
              <a:buNone/>
            </a:pPr>
            <a:r>
              <a:rPr lang="en-US" sz="1600" dirty="0">
                <a:solidFill>
                  <a:srgbClr val="12263A"/>
                </a:solidFill>
                <a:latin typeface="Calibri" pitchFamily="34" charset="0"/>
                <a:ea typeface="Calibri" pitchFamily="34" charset="-122"/>
                <a:cs typeface="Calibri" pitchFamily="34" charset="-120"/>
              </a:rPr>
              <a:t>Communities cut off from the nearest hospital</a:t>
            </a:r>
            <a:endParaRPr lang="en-US" sz="1600" dirty="0"/>
          </a:p>
        </p:txBody>
      </p:sp>
      <p:sp>
        <p:nvSpPr>
          <p:cNvPr id="14" name="Text 11"/>
          <p:cNvSpPr txBox="1"/>
          <p:nvPr/>
        </p:nvSpPr>
        <p:spPr>
          <a:xfrm>
            <a:off x="548640" y="4023360"/>
            <a:ext cx="8046720" cy="457200"/>
          </a:xfrm>
          <a:prstGeom prst="rect">
            <a:avLst/>
          </a:prstGeom>
          <a:noFill/>
          <a:ln/>
        </p:spPr>
        <p:txBody>
          <a:bodyPr wrap="square" lIns="0" tIns="0" rIns="0" bIns="0" rtlCol="0" anchor="ctr"/>
          <a:lstStyle/>
          <a:p>
            <a:pPr indent="0" marL="0">
              <a:buNone/>
            </a:pPr>
            <a:r>
              <a:rPr lang="en-US" sz="1600" i="1" dirty="0">
                <a:solidFill>
                  <a:srgbClr val="5B6B7A"/>
                </a:solidFill>
                <a:latin typeface="Calibri" pitchFamily="34" charset="0"/>
                <a:ea typeface="Calibri" pitchFamily="34" charset="-122"/>
                <a:cs typeface="Calibri" pitchFamily="34" charset="-120"/>
              </a:rPr>
              <a:t>Radar sees through clouds, so we build on Sentinel-1.</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How it works</a:t>
            </a:r>
            <a:endParaRPr lang="en-US" sz="3000" dirty="0"/>
          </a:p>
        </p:txBody>
      </p:sp>
      <p:sp>
        <p:nvSpPr>
          <p:cNvPr id="5" name="Shape 2"/>
          <p:cNvSpPr/>
          <p:nvPr/>
        </p:nvSpPr>
        <p:spPr>
          <a:xfrm>
            <a:off x="548640" y="1280160"/>
            <a:ext cx="8046720" cy="868680"/>
          </a:xfrm>
          <a:prstGeom prst="rect">
            <a:avLst/>
          </a:prstGeom>
          <a:solidFill>
            <a:srgbClr val="FFFFFF"/>
          </a:solidFill>
          <a:ln w="12700">
            <a:solidFill>
              <a:srgbClr val="D5DEE6"/>
            </a:solidFill>
            <a:prstDash val="solid"/>
          </a:ln>
        </p:spPr>
      </p:sp>
      <p:sp>
        <p:nvSpPr>
          <p:cNvPr id="6" name="Shape 3"/>
          <p:cNvSpPr/>
          <p:nvPr/>
        </p:nvSpPr>
        <p:spPr>
          <a:xfrm>
            <a:off x="548640" y="1280160"/>
            <a:ext cx="73152" cy="868680"/>
          </a:xfrm>
          <a:prstGeom prst="rect">
            <a:avLst/>
          </a:prstGeom>
          <a:solidFill>
            <a:srgbClr val="1FB5A3"/>
          </a:solidFill>
          <a:ln w="12700">
            <a:solidFill>
              <a:srgbClr val="1FB5A3"/>
            </a:solidFill>
            <a:prstDash val="solid"/>
          </a:ln>
        </p:spPr>
      </p:sp>
      <p:sp>
        <p:nvSpPr>
          <p:cNvPr id="7" name="Text 4"/>
          <p:cNvSpPr txBox="1"/>
          <p:nvPr/>
        </p:nvSpPr>
        <p:spPr>
          <a:xfrm>
            <a:off x="822960" y="1280160"/>
            <a:ext cx="2011680" cy="86868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1  Flood mask</a:t>
            </a:r>
            <a:endParaRPr lang="en-US" sz="1800" dirty="0"/>
          </a:p>
        </p:txBody>
      </p:sp>
      <p:sp>
        <p:nvSpPr>
          <p:cNvPr id="8" name="Text 5"/>
          <p:cNvSpPr txBox="1"/>
          <p:nvPr/>
        </p:nvSpPr>
        <p:spPr>
          <a:xfrm>
            <a:off x="2926080" y="1280160"/>
            <a:ext cx="5486400" cy="868680"/>
          </a:xfrm>
          <a:prstGeom prst="rect">
            <a:avLst/>
          </a:prstGeom>
          <a:noFill/>
          <a:ln/>
        </p:spPr>
        <p:txBody>
          <a:bodyPr wrap="square" lIns="0" tIns="0" rIns="0" bIns="0" rtlCol="0" anchor="ctr"/>
          <a:lstStyle/>
          <a:p>
            <a:pPr indent="0" marL="0">
              <a:buNone/>
            </a:pPr>
            <a:r>
              <a:rPr lang="en-US" sz="1400" dirty="0">
                <a:solidFill>
                  <a:srgbClr val="12263A"/>
                </a:solidFill>
                <a:latin typeface="Calibri" pitchFamily="34" charset="0"/>
                <a:ea typeface="Calibri" pitchFamily="34" charset="-122"/>
                <a:cs typeface="Calibri" pitchFamily="34" charset="-120"/>
              </a:rPr>
              <a:t>Sentinel-1 before (16 Aug) vs after (28 Aug), same orbit. Sentinel-2 skipped: only 11.5% clear.</a:t>
            </a:r>
            <a:endParaRPr lang="en-US" sz="1400" dirty="0"/>
          </a:p>
        </p:txBody>
      </p:sp>
      <p:sp>
        <p:nvSpPr>
          <p:cNvPr id="9" name="Shape 6"/>
          <p:cNvSpPr/>
          <p:nvPr/>
        </p:nvSpPr>
        <p:spPr>
          <a:xfrm>
            <a:off x="548640" y="2331720"/>
            <a:ext cx="8046720" cy="868680"/>
          </a:xfrm>
          <a:prstGeom prst="rect">
            <a:avLst/>
          </a:prstGeom>
          <a:solidFill>
            <a:srgbClr val="FFFFFF"/>
          </a:solidFill>
          <a:ln w="12700">
            <a:solidFill>
              <a:srgbClr val="D5DEE6"/>
            </a:solidFill>
            <a:prstDash val="solid"/>
          </a:ln>
        </p:spPr>
      </p:sp>
      <p:sp>
        <p:nvSpPr>
          <p:cNvPr id="10" name="Shape 7"/>
          <p:cNvSpPr/>
          <p:nvPr/>
        </p:nvSpPr>
        <p:spPr>
          <a:xfrm>
            <a:off x="548640" y="2331720"/>
            <a:ext cx="73152" cy="868680"/>
          </a:xfrm>
          <a:prstGeom prst="rect">
            <a:avLst/>
          </a:prstGeom>
          <a:solidFill>
            <a:srgbClr val="1FB5A3"/>
          </a:solidFill>
          <a:ln w="12700">
            <a:solidFill>
              <a:srgbClr val="1FB5A3"/>
            </a:solidFill>
            <a:prstDash val="solid"/>
          </a:ln>
        </p:spPr>
      </p:sp>
      <p:sp>
        <p:nvSpPr>
          <p:cNvPr id="11" name="Text 8"/>
          <p:cNvSpPr txBox="1"/>
          <p:nvPr/>
        </p:nvSpPr>
        <p:spPr>
          <a:xfrm>
            <a:off x="822960" y="2331720"/>
            <a:ext cx="2011680" cy="86868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2  Damage</a:t>
            </a:r>
            <a:endParaRPr lang="en-US" sz="1800" dirty="0"/>
          </a:p>
        </p:txBody>
      </p:sp>
      <p:sp>
        <p:nvSpPr>
          <p:cNvPr id="12" name="Text 9"/>
          <p:cNvSpPr txBox="1"/>
          <p:nvPr/>
        </p:nvSpPr>
        <p:spPr>
          <a:xfrm>
            <a:off x="2926080" y="2331720"/>
            <a:ext cx="5486400" cy="868680"/>
          </a:xfrm>
          <a:prstGeom prst="rect">
            <a:avLst/>
          </a:prstGeom>
          <a:noFill/>
          <a:ln/>
        </p:spPr>
        <p:txBody>
          <a:bodyPr wrap="square" lIns="0" tIns="0" rIns="0" bIns="0" rtlCol="0" anchor="ctr"/>
          <a:lstStyle/>
          <a:p>
            <a:pPr indent="0" marL="0">
              <a:buNone/>
            </a:pPr>
            <a:r>
              <a:rPr lang="en-US" sz="1400" dirty="0">
                <a:solidFill>
                  <a:srgbClr val="12263A"/>
                </a:solidFill>
                <a:latin typeface="Calibri" pitchFamily="34" charset="0"/>
                <a:ea typeface="Calibri" pitchFamily="34" charset="-122"/>
                <a:cs typeface="Calibri" pitchFamily="34" charset="-120"/>
              </a:rPr>
              <a:t>Pre-event OSM snapshot (27 Jul): buildings, roads, bridges overlapping the mask.</a:t>
            </a:r>
            <a:endParaRPr lang="en-US" sz="1400" dirty="0"/>
          </a:p>
        </p:txBody>
      </p:sp>
      <p:sp>
        <p:nvSpPr>
          <p:cNvPr id="13" name="Shape 10"/>
          <p:cNvSpPr/>
          <p:nvPr/>
        </p:nvSpPr>
        <p:spPr>
          <a:xfrm>
            <a:off x="548640" y="3383280"/>
            <a:ext cx="8046720" cy="868680"/>
          </a:xfrm>
          <a:prstGeom prst="rect">
            <a:avLst/>
          </a:prstGeom>
          <a:solidFill>
            <a:srgbClr val="FFFFFF"/>
          </a:solidFill>
          <a:ln w="12700">
            <a:solidFill>
              <a:srgbClr val="D5DEE6"/>
            </a:solidFill>
            <a:prstDash val="solid"/>
          </a:ln>
        </p:spPr>
      </p:sp>
      <p:sp>
        <p:nvSpPr>
          <p:cNvPr id="14" name="Shape 11"/>
          <p:cNvSpPr/>
          <p:nvPr/>
        </p:nvSpPr>
        <p:spPr>
          <a:xfrm>
            <a:off x="548640" y="3383280"/>
            <a:ext cx="73152" cy="868680"/>
          </a:xfrm>
          <a:prstGeom prst="rect">
            <a:avLst/>
          </a:prstGeom>
          <a:solidFill>
            <a:srgbClr val="1FB5A3"/>
          </a:solidFill>
          <a:ln w="12700">
            <a:solidFill>
              <a:srgbClr val="1FB5A3"/>
            </a:solidFill>
            <a:prstDash val="solid"/>
          </a:ln>
        </p:spPr>
      </p:sp>
      <p:sp>
        <p:nvSpPr>
          <p:cNvPr id="15" name="Text 12"/>
          <p:cNvSpPr txBox="1"/>
          <p:nvPr/>
        </p:nvSpPr>
        <p:spPr>
          <a:xfrm>
            <a:off x="822960" y="3383280"/>
            <a:ext cx="2011680" cy="868680"/>
          </a:xfrm>
          <a:prstGeom prst="rect">
            <a:avLst/>
          </a:prstGeom>
          <a:noFill/>
          <a:ln/>
        </p:spPr>
        <p:txBody>
          <a:bodyPr wrap="square" lIns="0" tIns="0" rIns="0" bIns="0" rtlCol="0" anchor="ctr"/>
          <a:lstStyle/>
          <a:p>
            <a:pPr indent="0" marL="0">
              <a:buNone/>
            </a:pPr>
            <a:r>
              <a:rPr lang="en-US" sz="1800" b="1" dirty="0">
                <a:solidFill>
                  <a:srgbClr val="12263A"/>
                </a:solidFill>
                <a:latin typeface="Calibri" pitchFamily="34" charset="0"/>
                <a:ea typeface="Calibri" pitchFamily="34" charset="-122"/>
                <a:cs typeface="Calibri" pitchFamily="34" charset="-120"/>
              </a:rPr>
              <a:t>3  Cut-off</a:t>
            </a:r>
            <a:endParaRPr lang="en-US" sz="1800" dirty="0"/>
          </a:p>
        </p:txBody>
      </p:sp>
      <p:sp>
        <p:nvSpPr>
          <p:cNvPr id="16" name="Text 13"/>
          <p:cNvSpPr txBox="1"/>
          <p:nvPr/>
        </p:nvSpPr>
        <p:spPr>
          <a:xfrm>
            <a:off x="2926080" y="3383280"/>
            <a:ext cx="5486400" cy="868680"/>
          </a:xfrm>
          <a:prstGeom prst="rect">
            <a:avLst/>
          </a:prstGeom>
          <a:noFill/>
          <a:ln/>
        </p:spPr>
        <p:txBody>
          <a:bodyPr wrap="square" lIns="0" tIns="0" rIns="0" bIns="0" rtlCol="0" anchor="ctr"/>
          <a:lstStyle/>
          <a:p>
            <a:pPr indent="0" marL="0">
              <a:buNone/>
            </a:pPr>
            <a:r>
              <a:rPr lang="en-US" sz="1400" dirty="0">
                <a:solidFill>
                  <a:srgbClr val="12263A"/>
                </a:solidFill>
                <a:latin typeface="Calibri" pitchFamily="34" charset="0"/>
                <a:ea typeface="Calibri" pitchFamily="34" charset="-122"/>
                <a:cs typeface="Calibri" pitchFamily="34" charset="-120"/>
              </a:rPr>
              <a:t>Road graph minus flooded segments: who loses the route to a hospital?</a:t>
            </a:r>
            <a:endParaRPr lang="en-US" sz="1400" dirty="0"/>
          </a:p>
        </p:txBody>
      </p:sp>
      <p:sp>
        <p:nvSpPr>
          <p:cNvPr id="17" name="Text 14"/>
          <p:cNvSpPr txBox="1"/>
          <p:nvPr/>
        </p:nvSpPr>
        <p:spPr>
          <a:xfrm>
            <a:off x="548640" y="4480560"/>
            <a:ext cx="8046720" cy="36576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Bonus: Copernicus DEM traces the flood path down the valley.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Data rules we followed</a:t>
            </a:r>
            <a:endParaRPr lang="en-US" sz="3000" dirty="0"/>
          </a:p>
        </p:txBody>
      </p:sp>
      <p:sp>
        <p:nvSpPr>
          <p:cNvPr id="5" name="Text 2"/>
          <p:cNvSpPr txBox="1"/>
          <p:nvPr/>
        </p:nvSpPr>
        <p:spPr>
          <a:xfrm>
            <a:off x="548640" y="1371600"/>
            <a:ext cx="8046720" cy="2743200"/>
          </a:xfrm>
          <a:prstGeom prst="rect">
            <a:avLst/>
          </a:prstGeom>
          <a:noFill/>
          <a:ln/>
        </p:spPr>
        <p:txBody>
          <a:bodyPr wrap="square" lIns="0" tIns="0" rIns="0" bIns="0" rtlCol="0" anchor="t"/>
          <a:lstStyle/>
          <a:p>
            <a:pPr indent="0" marL="0">
              <a:spcAft>
                <a:spcPts val="1800"/>
              </a:spcAft>
              <a:buNone/>
            </a:pPr>
            <a:r>
              <a:rPr lang="en-US" sz="2000" b="1" dirty="0">
                <a:solidFill>
                  <a:srgbClr val="12263A"/>
                </a:solidFill>
                <a:latin typeface="Calibri" pitchFamily="34" charset="0"/>
                <a:ea typeface="Calibri" pitchFamily="34" charset="-122"/>
                <a:cs typeface="Calibri" pitchFamily="34" charset="-120"/>
              </a:rPr>
              <a:t>Inputs: </a:t>
            </a:r>
            <a:pPr indent="0" marL="0">
              <a:spcAft>
                <a:spcPts val="1800"/>
              </a:spcAft>
              <a:buNone/>
            </a:pPr>
            <a:r>
              <a:rPr lang="en-US" sz="2000" dirty="0">
                <a:solidFill>
                  <a:srgbClr val="12263A"/>
                </a:solidFill>
                <a:latin typeface="Calibri" pitchFamily="34" charset="0"/>
                <a:ea typeface="Calibri" pitchFamily="34" charset="-122"/>
                <a:cs typeface="Calibri" pitchFamily="34" charset="-120"/>
              </a:rPr>
              <a:t>Sentinel-1, Sentinel-2, Copernicus DEM, pre-event OpenStreetMap</a:t>
            </a:r>
            <a:endParaRPr lang="en-US" sz="2000" dirty="0"/>
          </a:p>
          <a:p>
            <a:pPr indent="0" marL="0">
              <a:spcAft>
                <a:spcPts val="1800"/>
              </a:spcAft>
              <a:buNone/>
            </a:pPr>
            <a:r>
              <a:rPr lang="en-US" sz="2000" b="1" dirty="0">
                <a:solidFill>
                  <a:srgbClr val="12263A"/>
                </a:solidFill>
                <a:latin typeface="Calibri" pitchFamily="34" charset="0"/>
                <a:ea typeface="Calibri" pitchFamily="34" charset="-122"/>
                <a:cs typeface="Calibri" pitchFamily="34" charset="-120"/>
              </a:rPr>
              <a:t>No model trained: </a:t>
            </a:r>
            <a:pPr indent="0" marL="0">
              <a:spcAft>
                <a:spcPts val="1800"/>
              </a:spcAft>
              <a:buNone/>
            </a:pPr>
            <a:r>
              <a:rPr lang="en-US" sz="2000" dirty="0">
                <a:solidFill>
                  <a:srgbClr val="12263A"/>
                </a:solidFill>
                <a:latin typeface="Calibri" pitchFamily="34" charset="0"/>
                <a:ea typeface="Calibri" pitchFamily="34" charset="-122"/>
                <a:cs typeface="Calibri" pitchFamily="34" charset="-120"/>
              </a:rPr>
              <a:t>no training dataset used</a:t>
            </a:r>
            <a:endParaRPr lang="en-US" sz="2000" dirty="0"/>
          </a:p>
          <a:p>
            <a:pPr indent="0" marL="0">
              <a:spcAft>
                <a:spcPts val="1800"/>
              </a:spcAft>
              <a:buNone/>
            </a:pPr>
            <a:r>
              <a:rPr lang="en-US" sz="2000" b="1" dirty="0">
                <a:solidFill>
                  <a:srgbClr val="12263A"/>
                </a:solidFill>
                <a:latin typeface="Calibri" pitchFamily="34" charset="0"/>
                <a:ea typeface="Calibri" pitchFamily="34" charset="-122"/>
                <a:cs typeface="Calibri" pitchFamily="34" charset="-120"/>
              </a:rPr>
              <a:t>EMSR927 reference: </a:t>
            </a:r>
            <a:pPr indent="0" marL="0">
              <a:spcAft>
                <a:spcPts val="1800"/>
              </a:spcAft>
              <a:buNone/>
            </a:pPr>
            <a:r>
              <a:rPr lang="en-US" sz="2000" dirty="0">
                <a:solidFill>
                  <a:srgbClr val="12263A"/>
                </a:solidFill>
                <a:latin typeface="Calibri" pitchFamily="34" charset="0"/>
                <a:ea typeface="Calibri" pitchFamily="34" charset="-122"/>
                <a:cs typeface="Calibri" pitchFamily="34" charset="-120"/>
              </a:rPr>
              <a:t>final evaluation only, never a pipeline input</a:t>
            </a:r>
            <a:endParaRPr lang="en-US" sz="2000" dirty="0"/>
          </a:p>
          <a:p>
            <a:pPr indent="0" marL="0">
              <a:spcAft>
                <a:spcPts val="1800"/>
              </a:spcAft>
              <a:buNone/>
            </a:pPr>
            <a:r>
              <a:rPr lang="en-US" sz="2000" b="1" dirty="0">
                <a:solidFill>
                  <a:srgbClr val="12263A"/>
                </a:solidFill>
                <a:latin typeface="Calibri" pitchFamily="34" charset="0"/>
                <a:ea typeface="Calibri" pitchFamily="34" charset="-122"/>
                <a:cs typeface="Calibri" pitchFamily="34" charset="-120"/>
              </a:rPr>
              <a:t>Runs from raw data: </a:t>
            </a:r>
            <a:pPr indent="0" marL="0">
              <a:spcAft>
                <a:spcPts val="1800"/>
              </a:spcAft>
              <a:buNone/>
            </a:pPr>
            <a:r>
              <a:rPr lang="en-US" sz="2000" dirty="0">
                <a:solidFill>
                  <a:srgbClr val="12263A"/>
                </a:solidFill>
                <a:latin typeface="Calibri" pitchFamily="34" charset="0"/>
                <a:ea typeface="Calibri" pitchFamily="34" charset="-122"/>
                <a:cs typeface="Calibri" pitchFamily="34" charset="-120"/>
              </a:rPr>
              <a:t>one run() call in Google Colab</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What we found</a:t>
            </a:r>
            <a:endParaRPr lang="en-US" sz="3000" dirty="0"/>
          </a:p>
        </p:txBody>
      </p:sp>
      <p:sp>
        <p:nvSpPr>
          <p:cNvPr id="5" name="Shape 2"/>
          <p:cNvSpPr/>
          <p:nvPr/>
        </p:nvSpPr>
        <p:spPr>
          <a:xfrm>
            <a:off x="548640" y="1280160"/>
            <a:ext cx="3931920" cy="1371600"/>
          </a:xfrm>
          <a:prstGeom prst="rect">
            <a:avLst/>
          </a:prstGeom>
          <a:solidFill>
            <a:srgbClr val="FFFFFF"/>
          </a:solidFill>
          <a:ln w="12700">
            <a:solidFill>
              <a:srgbClr val="D5DEE6"/>
            </a:solidFill>
            <a:prstDash val="solid"/>
          </a:ln>
        </p:spPr>
      </p:sp>
      <p:sp>
        <p:nvSpPr>
          <p:cNvPr id="6" name="Text 3"/>
          <p:cNvSpPr txBox="1"/>
          <p:nvPr/>
        </p:nvSpPr>
        <p:spPr>
          <a:xfrm>
            <a:off x="777240" y="1417320"/>
            <a:ext cx="3474720" cy="731520"/>
          </a:xfrm>
          <a:prstGeom prst="rect">
            <a:avLst/>
          </a:prstGeom>
          <a:noFill/>
          <a:ln/>
        </p:spPr>
        <p:txBody>
          <a:bodyPr wrap="square" lIns="0" tIns="0" rIns="0" bIns="0" rtlCol="0" anchor="ctr"/>
          <a:lstStyle/>
          <a:p>
            <a:pPr indent="0" marL="0">
              <a:buNone/>
            </a:pPr>
            <a:r>
              <a:rPr lang="en-US" sz="3200" b="1" dirty="0">
                <a:solidFill>
                  <a:srgbClr val="1FB5A3"/>
                </a:solidFill>
                <a:latin typeface="Calibri" pitchFamily="34" charset="0"/>
                <a:ea typeface="Calibri" pitchFamily="34" charset="-122"/>
                <a:cs typeface="Calibri" pitchFamily="34" charset="-120"/>
              </a:rPr>
              <a:t>0.07 km²</a:t>
            </a:r>
            <a:endParaRPr lang="en-US" sz="3200" dirty="0"/>
          </a:p>
        </p:txBody>
      </p:sp>
      <p:sp>
        <p:nvSpPr>
          <p:cNvPr id="7" name="Text 4"/>
          <p:cNvSpPr txBox="1"/>
          <p:nvPr/>
        </p:nvSpPr>
        <p:spPr>
          <a:xfrm>
            <a:off x="777240" y="2148840"/>
            <a:ext cx="3474720" cy="36576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detected flood area</a:t>
            </a:r>
            <a:endParaRPr lang="en-US" sz="1500" dirty="0"/>
          </a:p>
        </p:txBody>
      </p:sp>
      <p:sp>
        <p:nvSpPr>
          <p:cNvPr id="8" name="Shape 5"/>
          <p:cNvSpPr/>
          <p:nvPr/>
        </p:nvSpPr>
        <p:spPr>
          <a:xfrm>
            <a:off x="4663440" y="1280160"/>
            <a:ext cx="3931920" cy="1371600"/>
          </a:xfrm>
          <a:prstGeom prst="rect">
            <a:avLst/>
          </a:prstGeom>
          <a:solidFill>
            <a:srgbClr val="FFFFFF"/>
          </a:solidFill>
          <a:ln w="12700">
            <a:solidFill>
              <a:srgbClr val="D5DEE6"/>
            </a:solidFill>
            <a:prstDash val="solid"/>
          </a:ln>
        </p:spPr>
      </p:sp>
      <p:sp>
        <p:nvSpPr>
          <p:cNvPr id="9" name="Text 6"/>
          <p:cNvSpPr txBox="1"/>
          <p:nvPr/>
        </p:nvSpPr>
        <p:spPr>
          <a:xfrm>
            <a:off x="4892040" y="1417320"/>
            <a:ext cx="3474720" cy="731520"/>
          </a:xfrm>
          <a:prstGeom prst="rect">
            <a:avLst/>
          </a:prstGeom>
          <a:noFill/>
          <a:ln/>
        </p:spPr>
        <p:txBody>
          <a:bodyPr wrap="square" lIns="0" tIns="0" rIns="0" bIns="0" rtlCol="0" anchor="ctr"/>
          <a:lstStyle/>
          <a:p>
            <a:pPr indent="0" marL="0">
              <a:buNone/>
            </a:pPr>
            <a:r>
              <a:rPr lang="en-US" sz="3200" b="1" dirty="0">
                <a:solidFill>
                  <a:srgbClr val="E5533D"/>
                </a:solidFill>
                <a:latin typeface="Calibri" pitchFamily="34" charset="0"/>
                <a:ea typeface="Calibri" pitchFamily="34" charset="-122"/>
                <a:cs typeface="Calibri" pitchFamily="34" charset="-120"/>
              </a:rPr>
              <a:t>30 / 2,660</a:t>
            </a:r>
            <a:endParaRPr lang="en-US" sz="3200" dirty="0"/>
          </a:p>
        </p:txBody>
      </p:sp>
      <p:sp>
        <p:nvSpPr>
          <p:cNvPr id="10" name="Text 7"/>
          <p:cNvSpPr txBox="1"/>
          <p:nvPr/>
        </p:nvSpPr>
        <p:spPr>
          <a:xfrm>
            <a:off x="4892040" y="2148840"/>
            <a:ext cx="3474720" cy="36576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buildings hit (+15 at risk)</a:t>
            </a:r>
            <a:endParaRPr lang="en-US" sz="1500" dirty="0"/>
          </a:p>
        </p:txBody>
      </p:sp>
      <p:sp>
        <p:nvSpPr>
          <p:cNvPr id="11" name="Shape 8"/>
          <p:cNvSpPr/>
          <p:nvPr/>
        </p:nvSpPr>
        <p:spPr>
          <a:xfrm>
            <a:off x="548640" y="2834640"/>
            <a:ext cx="3931920" cy="1371600"/>
          </a:xfrm>
          <a:prstGeom prst="rect">
            <a:avLst/>
          </a:prstGeom>
          <a:solidFill>
            <a:srgbClr val="FFFFFF"/>
          </a:solidFill>
          <a:ln w="12700">
            <a:solidFill>
              <a:srgbClr val="D5DEE6"/>
            </a:solidFill>
            <a:prstDash val="solid"/>
          </a:ln>
        </p:spPr>
      </p:sp>
      <p:sp>
        <p:nvSpPr>
          <p:cNvPr id="12" name="Text 9"/>
          <p:cNvSpPr txBox="1"/>
          <p:nvPr/>
        </p:nvSpPr>
        <p:spPr>
          <a:xfrm>
            <a:off x="777240" y="2971800"/>
            <a:ext cx="3474720" cy="731520"/>
          </a:xfrm>
          <a:prstGeom prst="rect">
            <a:avLst/>
          </a:prstGeom>
          <a:noFill/>
          <a:ln/>
        </p:spPr>
        <p:txBody>
          <a:bodyPr wrap="square" lIns="0" tIns="0" rIns="0" bIns="0" rtlCol="0" anchor="ctr"/>
          <a:lstStyle/>
          <a:p>
            <a:pPr indent="0" marL="0">
              <a:buNone/>
            </a:pPr>
            <a:r>
              <a:rPr lang="en-US" sz="3200" b="1" dirty="0">
                <a:solidFill>
                  <a:srgbClr val="E5533D"/>
                </a:solidFill>
                <a:latin typeface="Calibri" pitchFamily="34" charset="0"/>
                <a:ea typeface="Calibri" pitchFamily="34" charset="-122"/>
                <a:cs typeface="Calibri" pitchFamily="34" charset="-120"/>
              </a:rPr>
              <a:t>0.39 / 192.8 km</a:t>
            </a:r>
            <a:endParaRPr lang="en-US" sz="3200" dirty="0"/>
          </a:p>
        </p:txBody>
      </p:sp>
      <p:sp>
        <p:nvSpPr>
          <p:cNvPr id="13" name="Text 10"/>
          <p:cNvSpPr txBox="1"/>
          <p:nvPr/>
        </p:nvSpPr>
        <p:spPr>
          <a:xfrm>
            <a:off x="777240" y="3703320"/>
            <a:ext cx="3474720" cy="36576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road hit</a:t>
            </a:r>
            <a:endParaRPr lang="en-US" sz="1500" dirty="0"/>
          </a:p>
        </p:txBody>
      </p:sp>
      <p:sp>
        <p:nvSpPr>
          <p:cNvPr id="14" name="Shape 11"/>
          <p:cNvSpPr/>
          <p:nvPr/>
        </p:nvSpPr>
        <p:spPr>
          <a:xfrm>
            <a:off x="4663440" y="2834640"/>
            <a:ext cx="3931920" cy="1371600"/>
          </a:xfrm>
          <a:prstGeom prst="rect">
            <a:avLst/>
          </a:prstGeom>
          <a:solidFill>
            <a:srgbClr val="FFFFFF"/>
          </a:solidFill>
          <a:ln w="12700">
            <a:solidFill>
              <a:srgbClr val="D5DEE6"/>
            </a:solidFill>
            <a:prstDash val="solid"/>
          </a:ln>
        </p:spPr>
      </p:sp>
      <p:sp>
        <p:nvSpPr>
          <p:cNvPr id="15" name="Text 12"/>
          <p:cNvSpPr txBox="1"/>
          <p:nvPr/>
        </p:nvSpPr>
        <p:spPr>
          <a:xfrm>
            <a:off x="4892040" y="2971800"/>
            <a:ext cx="3474720" cy="731520"/>
          </a:xfrm>
          <a:prstGeom prst="rect">
            <a:avLst/>
          </a:prstGeom>
          <a:noFill/>
          <a:ln/>
        </p:spPr>
        <p:txBody>
          <a:bodyPr wrap="square" lIns="0" tIns="0" rIns="0" bIns="0" rtlCol="0" anchor="ctr"/>
          <a:lstStyle/>
          <a:p>
            <a:pPr indent="0" marL="0">
              <a:buNone/>
            </a:pPr>
            <a:r>
              <a:rPr lang="en-US" sz="3200" b="1" dirty="0">
                <a:solidFill>
                  <a:srgbClr val="E5533D"/>
                </a:solidFill>
                <a:latin typeface="Calibri" pitchFamily="34" charset="0"/>
                <a:ea typeface="Calibri" pitchFamily="34" charset="-122"/>
                <a:cs typeface="Calibri" pitchFamily="34" charset="-120"/>
              </a:rPr>
              <a:t>1 / 18</a:t>
            </a:r>
            <a:endParaRPr lang="en-US" sz="3200" dirty="0"/>
          </a:p>
        </p:txBody>
      </p:sp>
      <p:sp>
        <p:nvSpPr>
          <p:cNvPr id="16" name="Text 13"/>
          <p:cNvSpPr txBox="1"/>
          <p:nvPr/>
        </p:nvSpPr>
        <p:spPr>
          <a:xfrm>
            <a:off x="4892040" y="3703320"/>
            <a:ext cx="3474720" cy="36576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bridges hit</a:t>
            </a:r>
            <a:endParaRPr lang="en-US" sz="1500" dirty="0"/>
          </a:p>
        </p:txBody>
      </p:sp>
      <p:sp>
        <p:nvSpPr>
          <p:cNvPr id="17" name="Text 14"/>
          <p:cNvSpPr txBox="1"/>
          <p:nvPr/>
        </p:nvSpPr>
        <p:spPr>
          <a:xfrm>
            <a:off x="548640" y="4480560"/>
            <a:ext cx="8046720" cy="365760"/>
          </a:xfrm>
          <a:prstGeom prst="rect">
            <a:avLst/>
          </a:prstGeom>
          <a:noFill/>
          <a:ln/>
        </p:spPr>
        <p:txBody>
          <a:bodyPr wrap="square" lIns="0" tIns="0" rIns="0" bIns="0" rtlCol="0" anchor="ctr"/>
          <a:lstStyle/>
          <a:p>
            <a:pPr indent="0" marL="0">
              <a:buNone/>
            </a:pPr>
            <a:r>
              <a:rPr lang="en-US" sz="1300" i="1" dirty="0">
                <a:solidFill>
                  <a:srgbClr val="5B6B7A"/>
                </a:solidFill>
                <a:latin typeface="Calibri" pitchFamily="34" charset="0"/>
                <a:ea typeface="Calibri" pitchFamily="34" charset="-122"/>
                <a:cs typeface="Calibri" pitchFamily="34" charset="-120"/>
              </a:rPr>
              <a:t>Mask = radar-change (debris-affected) areas only; no open water detected.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Who is cut off?</a:t>
            </a:r>
            <a:endParaRPr lang="en-US" sz="3000" dirty="0"/>
          </a:p>
        </p:txBody>
      </p:sp>
      <p:sp>
        <p:nvSpPr>
          <p:cNvPr id="5" name="Shape 2"/>
          <p:cNvSpPr/>
          <p:nvPr/>
        </p:nvSpPr>
        <p:spPr>
          <a:xfrm>
            <a:off x="548640" y="1280160"/>
            <a:ext cx="2606040" cy="1554480"/>
          </a:xfrm>
          <a:prstGeom prst="rect">
            <a:avLst/>
          </a:prstGeom>
          <a:solidFill>
            <a:srgbClr val="FFFFFF"/>
          </a:solidFill>
          <a:ln w="12700">
            <a:solidFill>
              <a:srgbClr val="D5DEE6"/>
            </a:solidFill>
            <a:prstDash val="solid"/>
          </a:ln>
        </p:spPr>
      </p:sp>
      <p:sp>
        <p:nvSpPr>
          <p:cNvPr id="6" name="Text 3"/>
          <p:cNvSpPr txBox="1"/>
          <p:nvPr/>
        </p:nvSpPr>
        <p:spPr>
          <a:xfrm>
            <a:off x="731520" y="1417320"/>
            <a:ext cx="2240280" cy="731520"/>
          </a:xfrm>
          <a:prstGeom prst="rect">
            <a:avLst/>
          </a:prstGeom>
          <a:noFill/>
          <a:ln/>
        </p:spPr>
        <p:txBody>
          <a:bodyPr wrap="square" lIns="0" tIns="0" rIns="0" bIns="0" rtlCol="0" anchor="ctr"/>
          <a:lstStyle/>
          <a:p>
            <a:pPr indent="0" marL="0">
              <a:buNone/>
            </a:pPr>
            <a:r>
              <a:rPr lang="en-US" sz="3400" b="1" dirty="0">
                <a:solidFill>
                  <a:srgbClr val="E5533D"/>
                </a:solidFill>
                <a:latin typeface="Calibri" pitchFamily="34" charset="0"/>
                <a:ea typeface="Calibri" pitchFamily="34" charset="-122"/>
                <a:cs typeface="Calibri" pitchFamily="34" charset="-120"/>
              </a:rPr>
              <a:t>1</a:t>
            </a:r>
            <a:endParaRPr lang="en-US" sz="3400" dirty="0"/>
          </a:p>
        </p:txBody>
      </p:sp>
      <p:sp>
        <p:nvSpPr>
          <p:cNvPr id="7" name="Text 4"/>
          <p:cNvSpPr txBox="1"/>
          <p:nvPr/>
        </p:nvSpPr>
        <p:spPr>
          <a:xfrm>
            <a:off x="731520" y="2148840"/>
            <a:ext cx="2240280" cy="548640"/>
          </a:xfrm>
          <a:prstGeom prst="rect">
            <a:avLst/>
          </a:prstGeom>
          <a:noFill/>
          <a:ln/>
        </p:spPr>
        <p:txBody>
          <a:bodyPr wrap="square" lIns="0" tIns="0" rIns="0" bIns="0" rtlCol="0" anchor="t"/>
          <a:lstStyle/>
          <a:p>
            <a:pPr indent="0" marL="0">
              <a:buNone/>
            </a:pPr>
            <a:r>
              <a:rPr lang="en-US" sz="1400" dirty="0">
                <a:solidFill>
                  <a:srgbClr val="12263A"/>
                </a:solidFill>
                <a:latin typeface="Calibri" pitchFamily="34" charset="0"/>
                <a:ea typeface="Calibri" pitchFamily="34" charset="-122"/>
                <a:cs typeface="Calibri" pitchFamily="34" charset="-120"/>
              </a:rPr>
              <a:t>settlement cut off from hospital</a:t>
            </a:r>
            <a:endParaRPr lang="en-US" sz="1400" dirty="0"/>
          </a:p>
        </p:txBody>
      </p:sp>
      <p:sp>
        <p:nvSpPr>
          <p:cNvPr id="8" name="Shape 5"/>
          <p:cNvSpPr/>
          <p:nvPr/>
        </p:nvSpPr>
        <p:spPr>
          <a:xfrm>
            <a:off x="3337560" y="1280160"/>
            <a:ext cx="2606040" cy="1554480"/>
          </a:xfrm>
          <a:prstGeom prst="rect">
            <a:avLst/>
          </a:prstGeom>
          <a:solidFill>
            <a:srgbClr val="FFFFFF"/>
          </a:solidFill>
          <a:ln w="12700">
            <a:solidFill>
              <a:srgbClr val="D5DEE6"/>
            </a:solidFill>
            <a:prstDash val="solid"/>
          </a:ln>
        </p:spPr>
      </p:sp>
      <p:sp>
        <p:nvSpPr>
          <p:cNvPr id="9" name="Text 6"/>
          <p:cNvSpPr txBox="1"/>
          <p:nvPr/>
        </p:nvSpPr>
        <p:spPr>
          <a:xfrm>
            <a:off x="3520440" y="1417320"/>
            <a:ext cx="2240280" cy="731520"/>
          </a:xfrm>
          <a:prstGeom prst="rect">
            <a:avLst/>
          </a:prstGeom>
          <a:noFill/>
          <a:ln/>
        </p:spPr>
        <p:txBody>
          <a:bodyPr wrap="square" lIns="0" tIns="0" rIns="0" bIns="0" rtlCol="0" anchor="ctr"/>
          <a:lstStyle/>
          <a:p>
            <a:pPr indent="0" marL="0">
              <a:buNone/>
            </a:pPr>
            <a:r>
              <a:rPr lang="en-US" sz="3400" b="1" dirty="0">
                <a:solidFill>
                  <a:srgbClr val="1FB5A3"/>
                </a:solidFill>
                <a:latin typeface="Calibri" pitchFamily="34" charset="0"/>
                <a:ea typeface="Calibri" pitchFamily="34" charset="-122"/>
                <a:cs typeface="Calibri" pitchFamily="34" charset="-120"/>
              </a:rPr>
              <a:t>24 of 40</a:t>
            </a:r>
            <a:endParaRPr lang="en-US" sz="3400" dirty="0"/>
          </a:p>
        </p:txBody>
      </p:sp>
      <p:sp>
        <p:nvSpPr>
          <p:cNvPr id="10" name="Text 7"/>
          <p:cNvSpPr txBox="1"/>
          <p:nvPr/>
        </p:nvSpPr>
        <p:spPr>
          <a:xfrm>
            <a:off x="3520440" y="2148840"/>
            <a:ext cx="2240280" cy="548640"/>
          </a:xfrm>
          <a:prstGeom prst="rect">
            <a:avLst/>
          </a:prstGeom>
          <a:noFill/>
          <a:ln/>
        </p:spPr>
        <p:txBody>
          <a:bodyPr wrap="square" lIns="0" tIns="0" rIns="0" bIns="0" rtlCol="0" anchor="t"/>
          <a:lstStyle/>
          <a:p>
            <a:pPr indent="0" marL="0">
              <a:buNone/>
            </a:pPr>
            <a:r>
              <a:rPr lang="en-US" sz="1400" dirty="0">
                <a:solidFill>
                  <a:srgbClr val="12263A"/>
                </a:solidFill>
                <a:latin typeface="Calibri" pitchFamily="34" charset="0"/>
                <a:ea typeface="Calibri" pitchFamily="34" charset="-122"/>
                <a:cs typeface="Calibri" pitchFamily="34" charset="-120"/>
              </a:rPr>
              <a:t>settlements analysed</a:t>
            </a:r>
            <a:endParaRPr lang="en-US" sz="1400" dirty="0"/>
          </a:p>
        </p:txBody>
      </p:sp>
      <p:sp>
        <p:nvSpPr>
          <p:cNvPr id="11" name="Shape 8"/>
          <p:cNvSpPr/>
          <p:nvPr/>
        </p:nvSpPr>
        <p:spPr>
          <a:xfrm>
            <a:off x="6126480" y="1280160"/>
            <a:ext cx="2606040" cy="1554480"/>
          </a:xfrm>
          <a:prstGeom prst="rect">
            <a:avLst/>
          </a:prstGeom>
          <a:solidFill>
            <a:srgbClr val="FFFFFF"/>
          </a:solidFill>
          <a:ln w="12700">
            <a:solidFill>
              <a:srgbClr val="D5DEE6"/>
            </a:solidFill>
            <a:prstDash val="solid"/>
          </a:ln>
        </p:spPr>
      </p:sp>
      <p:sp>
        <p:nvSpPr>
          <p:cNvPr id="12" name="Text 9"/>
          <p:cNvSpPr txBox="1"/>
          <p:nvPr/>
        </p:nvSpPr>
        <p:spPr>
          <a:xfrm>
            <a:off x="6309360" y="1417320"/>
            <a:ext cx="2240280" cy="731520"/>
          </a:xfrm>
          <a:prstGeom prst="rect">
            <a:avLst/>
          </a:prstGeom>
          <a:noFill/>
          <a:ln/>
        </p:spPr>
        <p:txBody>
          <a:bodyPr wrap="square" lIns="0" tIns="0" rIns="0" bIns="0" rtlCol="0" anchor="ctr"/>
          <a:lstStyle/>
          <a:p>
            <a:pPr indent="0" marL="0">
              <a:buNone/>
            </a:pPr>
            <a:r>
              <a:rPr lang="en-US" sz="3400" b="1" dirty="0">
                <a:solidFill>
                  <a:srgbClr val="5B6B7A"/>
                </a:solidFill>
                <a:latin typeface="Calibri" pitchFamily="34" charset="0"/>
                <a:ea typeface="Calibri" pitchFamily="34" charset="-122"/>
                <a:cs typeface="Calibri" pitchFamily="34" charset="-120"/>
              </a:rPr>
              <a:t>14</a:t>
            </a:r>
            <a:endParaRPr lang="en-US" sz="3400" dirty="0"/>
          </a:p>
        </p:txBody>
      </p:sp>
      <p:sp>
        <p:nvSpPr>
          <p:cNvPr id="13" name="Text 10"/>
          <p:cNvSpPr txBox="1"/>
          <p:nvPr/>
        </p:nvSpPr>
        <p:spPr>
          <a:xfrm>
            <a:off x="6309360" y="2148840"/>
            <a:ext cx="2240280" cy="548640"/>
          </a:xfrm>
          <a:prstGeom prst="rect">
            <a:avLst/>
          </a:prstGeom>
          <a:noFill/>
          <a:ln/>
        </p:spPr>
        <p:txBody>
          <a:bodyPr wrap="square" lIns="0" tIns="0" rIns="0" bIns="0" rtlCol="0" anchor="t"/>
          <a:lstStyle/>
          <a:p>
            <a:pPr indent="0" marL="0">
              <a:buNone/>
            </a:pPr>
            <a:r>
              <a:rPr lang="en-US" sz="1400" dirty="0">
                <a:solidFill>
                  <a:srgbClr val="12263A"/>
                </a:solidFill>
                <a:latin typeface="Calibri" pitchFamily="34" charset="0"/>
                <a:ea typeface="Calibri" pitchFamily="34" charset="-122"/>
                <a:cs typeface="Calibri" pitchFamily="34" charset="-120"/>
              </a:rPr>
              <a:t>no road within 500 m: not assessed</a:t>
            </a:r>
            <a:endParaRPr lang="en-US" sz="1400" dirty="0"/>
          </a:p>
        </p:txBody>
      </p:sp>
      <p:sp>
        <p:nvSpPr>
          <p:cNvPr id="14" name="Text 11"/>
          <p:cNvSpPr txBox="1"/>
          <p:nvPr/>
        </p:nvSpPr>
        <p:spPr>
          <a:xfrm>
            <a:off x="548640" y="3200400"/>
            <a:ext cx="8046720" cy="1097280"/>
          </a:xfrm>
          <a:prstGeom prst="rect">
            <a:avLst/>
          </a:prstGeom>
          <a:noFill/>
          <a:ln/>
        </p:spPr>
        <p:txBody>
          <a:bodyPr wrap="square" lIns="0" tIns="0" rIns="0" bIns="0" rtlCol="0" anchor="t"/>
          <a:lstStyle/>
          <a:p>
            <a:pPr indent="0" marL="0">
              <a:spcAft>
                <a:spcPts val="1000"/>
              </a:spcAft>
              <a:buNone/>
            </a:pPr>
            <a:r>
              <a:rPr lang="en-US" sz="1600" dirty="0">
                <a:solidFill>
                  <a:srgbClr val="12263A"/>
                </a:solidFill>
                <a:latin typeface="Calibri" pitchFamily="34" charset="0"/>
                <a:ea typeface="Calibri" pitchFamily="34" charset="-122"/>
                <a:cs typeface="Calibri" pitchFamily="34" charset="-120"/>
              </a:rPr>
              <a:t>Flood path: 5 settlements listed along the valley, up to ~23 km downstream.</a:t>
            </a:r>
            <a:endParaRPr lang="en-US" sz="1600" dirty="0"/>
          </a:p>
          <a:p>
            <a:pPr indent="0" marL="0">
              <a:spcAft>
                <a:spcPts val="1000"/>
              </a:spcAft>
              <a:buNone/>
            </a:pPr>
            <a:r>
              <a:rPr lang="en-US" sz="1600" dirty="0">
                <a:solidFill>
                  <a:srgbClr val="12263A"/>
                </a:solidFill>
                <a:latin typeface="Calibri" pitchFamily="34" charset="0"/>
                <a:ea typeface="Calibri" pitchFamily="34" charset="-122"/>
                <a:cs typeface="Calibri" pitchFamily="34" charset="-120"/>
              </a:rPr>
              <a:t>Town access not assessed: no town in OSM data for this area.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An AI copilot that cannot invent numbers</a:t>
            </a:r>
            <a:endParaRPr lang="en-US" sz="3000" dirty="0"/>
          </a:p>
        </p:txBody>
      </p:sp>
      <p:sp>
        <p:nvSpPr>
          <p:cNvPr id="5" name="Shape 2"/>
          <p:cNvSpPr/>
          <p:nvPr/>
        </p:nvSpPr>
        <p:spPr>
          <a:xfrm>
            <a:off x="548640" y="1554480"/>
            <a:ext cx="1874520" cy="1371600"/>
          </a:xfrm>
          <a:prstGeom prst="roundRect">
            <a:avLst>
              <a:gd name="adj" fmla="val 6667"/>
            </a:avLst>
          </a:prstGeom>
          <a:solidFill>
            <a:srgbClr val="FFFFFF"/>
          </a:solidFill>
          <a:ln w="12700">
            <a:solidFill>
              <a:srgbClr val="D5DEE6"/>
            </a:solidFill>
            <a:prstDash val="solid"/>
          </a:ln>
        </p:spPr>
      </p:sp>
      <p:sp>
        <p:nvSpPr>
          <p:cNvPr id="6" name="Text 3"/>
          <p:cNvSpPr txBox="1"/>
          <p:nvPr/>
        </p:nvSpPr>
        <p:spPr>
          <a:xfrm>
            <a:off x="640080" y="1554480"/>
            <a:ext cx="1691640" cy="1371600"/>
          </a:xfrm>
          <a:prstGeom prst="rect">
            <a:avLst/>
          </a:prstGeom>
          <a:noFill/>
          <a:ln/>
        </p:spPr>
        <p:txBody>
          <a:bodyPr wrap="square" lIns="0" tIns="0" rIns="0" bIns="0" rtlCol="0" anchor="ctr"/>
          <a:lstStyle/>
          <a:p>
            <a:pPr algn="ctr" indent="0" marL="0">
              <a:buNone/>
            </a:pPr>
            <a:r>
              <a:rPr lang="en-US" sz="1400" b="1" dirty="0">
                <a:solidFill>
                  <a:srgbClr val="12263A"/>
                </a:solidFill>
                <a:latin typeface="Calibri" pitchFamily="34" charset="0"/>
                <a:ea typeface="Calibri" pitchFamily="34" charset="-122"/>
                <a:cs typeface="Calibri" pitchFamily="34" charset="-120"/>
              </a:rPr>
              <a:t>facts.json</a:t>
            </a:r>
            <a:endParaRPr lang="en-US" sz="1400" dirty="0"/>
          </a:p>
          <a:p>
            <a:pPr algn="ctr" indent="0" marL="0">
              <a:buNone/>
            </a:pPr>
            <a:r>
              <a:rPr lang="en-US" sz="1400" b="1" dirty="0">
                <a:solidFill>
                  <a:srgbClr val="12263A"/>
                </a:solidFill>
                <a:latin typeface="Calibri" pitchFamily="34" charset="0"/>
                <a:ea typeface="Calibri" pitchFamily="34" charset="-122"/>
                <a:cs typeface="Calibri" pitchFamily="34" charset="-120"/>
              </a:rPr>
              <a:t>(numbers from maps)</a:t>
            </a:r>
            <a:endParaRPr lang="en-US" sz="1400" dirty="0"/>
          </a:p>
        </p:txBody>
      </p:sp>
      <p:sp>
        <p:nvSpPr>
          <p:cNvPr id="7" name="Text 4"/>
          <p:cNvSpPr txBox="1"/>
          <p:nvPr/>
        </p:nvSpPr>
        <p:spPr>
          <a:xfrm>
            <a:off x="2404872" y="1920240"/>
            <a:ext cx="274320" cy="548640"/>
          </a:xfrm>
          <a:prstGeom prst="rect">
            <a:avLst/>
          </a:prstGeom>
          <a:noFill/>
          <a:ln/>
        </p:spPr>
        <p:txBody>
          <a:bodyPr wrap="square" lIns="0" tIns="0" rIns="0" bIns="0" rtlCol="0" anchor="ctr"/>
          <a:lstStyle/>
          <a:p>
            <a:pPr algn="ctr" indent="0" marL="0">
              <a:buNone/>
            </a:pPr>
            <a:r>
              <a:rPr lang="en-US" sz="2000" dirty="0">
                <a:solidFill>
                  <a:srgbClr val="5B6B7A"/>
                </a:solidFill>
                <a:latin typeface="Calibri" pitchFamily="34" charset="0"/>
                <a:ea typeface="Calibri" pitchFamily="34" charset="-122"/>
                <a:cs typeface="Calibri" pitchFamily="34" charset="-120"/>
              </a:rPr>
              <a:t>→</a:t>
            </a:r>
            <a:endParaRPr lang="en-US" sz="2000" dirty="0"/>
          </a:p>
        </p:txBody>
      </p:sp>
      <p:sp>
        <p:nvSpPr>
          <p:cNvPr id="8" name="Shape 5"/>
          <p:cNvSpPr/>
          <p:nvPr/>
        </p:nvSpPr>
        <p:spPr>
          <a:xfrm>
            <a:off x="2633472" y="1554480"/>
            <a:ext cx="1874520" cy="1371600"/>
          </a:xfrm>
          <a:prstGeom prst="roundRect">
            <a:avLst>
              <a:gd name="adj" fmla="val 6667"/>
            </a:avLst>
          </a:prstGeom>
          <a:solidFill>
            <a:srgbClr val="FFFFFF"/>
          </a:solidFill>
          <a:ln w="12700">
            <a:solidFill>
              <a:srgbClr val="D5DEE6"/>
            </a:solidFill>
            <a:prstDash val="solid"/>
          </a:ln>
        </p:spPr>
      </p:sp>
      <p:sp>
        <p:nvSpPr>
          <p:cNvPr id="9" name="Text 6"/>
          <p:cNvSpPr txBox="1"/>
          <p:nvPr/>
        </p:nvSpPr>
        <p:spPr>
          <a:xfrm>
            <a:off x="2724912" y="1554480"/>
            <a:ext cx="1691640" cy="1371600"/>
          </a:xfrm>
          <a:prstGeom prst="rect">
            <a:avLst/>
          </a:prstGeom>
          <a:noFill/>
          <a:ln/>
        </p:spPr>
        <p:txBody>
          <a:bodyPr wrap="square" lIns="0" tIns="0" rIns="0" bIns="0" rtlCol="0" anchor="ctr"/>
          <a:lstStyle/>
          <a:p>
            <a:pPr algn="ctr" indent="0" marL="0">
              <a:buNone/>
            </a:pPr>
            <a:r>
              <a:rPr lang="en-US" sz="1400" b="1" dirty="0">
                <a:solidFill>
                  <a:srgbClr val="12263A"/>
                </a:solidFill>
                <a:latin typeface="Calibri" pitchFamily="34" charset="0"/>
                <a:ea typeface="Calibri" pitchFamily="34" charset="-122"/>
                <a:cs typeface="Calibri" pitchFamily="34" charset="-120"/>
              </a:rPr>
              <a:t>LLM writes report</a:t>
            </a:r>
            <a:endParaRPr lang="en-US" sz="1400" dirty="0"/>
          </a:p>
          <a:p>
            <a:pPr algn="ctr" indent="0" marL="0">
              <a:buNone/>
            </a:pPr>
            <a:r>
              <a:rPr lang="en-US" sz="1400" b="1" dirty="0">
                <a:solidFill>
                  <a:srgbClr val="12263A"/>
                </a:solidFill>
                <a:latin typeface="Calibri" pitchFamily="34" charset="0"/>
                <a:ea typeface="Calibri" pitchFamily="34" charset="-122"/>
                <a:cs typeface="Calibri" pitchFamily="34" charset="-120"/>
              </a:rPr>
              <a:t>English + Nepali</a:t>
            </a:r>
            <a:endParaRPr lang="en-US" sz="1400" dirty="0"/>
          </a:p>
        </p:txBody>
      </p:sp>
      <p:sp>
        <p:nvSpPr>
          <p:cNvPr id="10" name="Text 7"/>
          <p:cNvSpPr txBox="1"/>
          <p:nvPr/>
        </p:nvSpPr>
        <p:spPr>
          <a:xfrm>
            <a:off x="4489704" y="1920240"/>
            <a:ext cx="274320" cy="548640"/>
          </a:xfrm>
          <a:prstGeom prst="rect">
            <a:avLst/>
          </a:prstGeom>
          <a:noFill/>
          <a:ln/>
        </p:spPr>
        <p:txBody>
          <a:bodyPr wrap="square" lIns="0" tIns="0" rIns="0" bIns="0" rtlCol="0" anchor="ctr"/>
          <a:lstStyle/>
          <a:p>
            <a:pPr algn="ctr" indent="0" marL="0">
              <a:buNone/>
            </a:pPr>
            <a:r>
              <a:rPr lang="en-US" sz="2000" dirty="0">
                <a:solidFill>
                  <a:srgbClr val="5B6B7A"/>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4718304" y="1554480"/>
            <a:ext cx="1874520" cy="1371600"/>
          </a:xfrm>
          <a:prstGeom prst="roundRect">
            <a:avLst>
              <a:gd name="adj" fmla="val 6667"/>
            </a:avLst>
          </a:prstGeom>
          <a:solidFill>
            <a:srgbClr val="1FB5A3"/>
          </a:solidFill>
          <a:ln w="12700">
            <a:solidFill>
              <a:srgbClr val="D5DEE6"/>
            </a:solidFill>
            <a:prstDash val="solid"/>
          </a:ln>
        </p:spPr>
      </p:sp>
      <p:sp>
        <p:nvSpPr>
          <p:cNvPr id="12" name="Text 9"/>
          <p:cNvSpPr txBox="1"/>
          <p:nvPr/>
        </p:nvSpPr>
        <p:spPr>
          <a:xfrm>
            <a:off x="4809744" y="1554480"/>
            <a:ext cx="169164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 every number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against facts.json</a:t>
            </a:r>
            <a:endParaRPr lang="en-US" sz="1400" dirty="0"/>
          </a:p>
        </p:txBody>
      </p:sp>
      <p:sp>
        <p:nvSpPr>
          <p:cNvPr id="13" name="Text 10"/>
          <p:cNvSpPr txBox="1"/>
          <p:nvPr/>
        </p:nvSpPr>
        <p:spPr>
          <a:xfrm>
            <a:off x="6574536" y="1920240"/>
            <a:ext cx="274320" cy="548640"/>
          </a:xfrm>
          <a:prstGeom prst="rect">
            <a:avLst/>
          </a:prstGeom>
          <a:noFill/>
          <a:ln/>
        </p:spPr>
        <p:txBody>
          <a:bodyPr wrap="square" lIns="0" tIns="0" rIns="0" bIns="0" rtlCol="0" anchor="ctr"/>
          <a:lstStyle/>
          <a:p>
            <a:pPr algn="ctr" indent="0" marL="0">
              <a:buNone/>
            </a:pPr>
            <a:r>
              <a:rPr lang="en-US" sz="2000" dirty="0">
                <a:solidFill>
                  <a:srgbClr val="5B6B7A"/>
                </a:solidFill>
                <a:latin typeface="Calibri" pitchFamily="34" charset="0"/>
                <a:ea typeface="Calibri" pitchFamily="34" charset="-122"/>
                <a:cs typeface="Calibri" pitchFamily="34" charset="-120"/>
              </a:rPr>
              <a:t>→</a:t>
            </a:r>
            <a:endParaRPr lang="en-US" sz="2000" dirty="0"/>
          </a:p>
        </p:txBody>
      </p:sp>
      <p:sp>
        <p:nvSpPr>
          <p:cNvPr id="14" name="Shape 11"/>
          <p:cNvSpPr/>
          <p:nvPr/>
        </p:nvSpPr>
        <p:spPr>
          <a:xfrm>
            <a:off x="6803136" y="1554480"/>
            <a:ext cx="1874520" cy="1371600"/>
          </a:xfrm>
          <a:prstGeom prst="roundRect">
            <a:avLst>
              <a:gd name="adj" fmla="val 6667"/>
            </a:avLst>
          </a:prstGeom>
          <a:solidFill>
            <a:srgbClr val="FFFFFF"/>
          </a:solidFill>
          <a:ln w="12700">
            <a:solidFill>
              <a:srgbClr val="D5DEE6"/>
            </a:solidFill>
            <a:prstDash val="solid"/>
          </a:ln>
        </p:spPr>
      </p:sp>
      <p:sp>
        <p:nvSpPr>
          <p:cNvPr id="15" name="Text 12"/>
          <p:cNvSpPr txBox="1"/>
          <p:nvPr/>
        </p:nvSpPr>
        <p:spPr>
          <a:xfrm>
            <a:off x="6894576" y="1554480"/>
            <a:ext cx="1691640" cy="1371600"/>
          </a:xfrm>
          <a:prstGeom prst="rect">
            <a:avLst/>
          </a:prstGeom>
          <a:noFill/>
          <a:ln/>
        </p:spPr>
        <p:txBody>
          <a:bodyPr wrap="square" lIns="0" tIns="0" rIns="0" bIns="0" rtlCol="0" anchor="ctr"/>
          <a:lstStyle/>
          <a:p>
            <a:pPr algn="ctr" indent="0" marL="0">
              <a:buNone/>
            </a:pPr>
            <a:r>
              <a:rPr lang="en-US" sz="1400" b="1" dirty="0">
                <a:solidFill>
                  <a:srgbClr val="12263A"/>
                </a:solidFill>
                <a:latin typeface="Calibri" pitchFamily="34" charset="0"/>
                <a:ea typeface="Calibri" pitchFamily="34" charset="-122"/>
                <a:cs typeface="Calibri" pitchFamily="34" charset="-120"/>
              </a:rPr>
              <a:t>Rewrite, then fixed</a:t>
            </a:r>
            <a:endParaRPr lang="en-US" sz="1400" dirty="0"/>
          </a:p>
          <a:p>
            <a:pPr algn="ctr" indent="0" marL="0">
              <a:buNone/>
            </a:pPr>
            <a:r>
              <a:rPr lang="en-US" sz="1400" b="1" dirty="0">
                <a:solidFill>
                  <a:srgbClr val="12263A"/>
                </a:solidFill>
                <a:latin typeface="Calibri" pitchFamily="34" charset="0"/>
                <a:ea typeface="Calibri" pitchFamily="34" charset="-122"/>
                <a:cs typeface="Calibri" pitchFamily="34" charset="-120"/>
              </a:rPr>
              <a:t>template fallback</a:t>
            </a:r>
            <a:endParaRPr lang="en-US" sz="1400" dirty="0"/>
          </a:p>
        </p:txBody>
      </p:sp>
      <p:sp>
        <p:nvSpPr>
          <p:cNvPr id="16" name="Text 13"/>
          <p:cNvSpPr txBox="1"/>
          <p:nvPr/>
        </p:nvSpPr>
        <p:spPr>
          <a:xfrm>
            <a:off x="548640" y="3474720"/>
            <a:ext cx="8046720" cy="457200"/>
          </a:xfrm>
          <a:prstGeom prst="rect">
            <a:avLst/>
          </a:prstGeom>
          <a:noFill/>
          <a:ln/>
        </p:spPr>
        <p:txBody>
          <a:bodyPr wrap="square" lIns="0" tIns="0" rIns="0" bIns="0" rtlCol="0" anchor="ctr"/>
          <a:lstStyle/>
          <a:p>
            <a:pPr indent="0" marL="0">
              <a:buNone/>
            </a:pPr>
            <a:r>
              <a:rPr lang="en-US" sz="1600" i="1" dirty="0">
                <a:solidFill>
                  <a:srgbClr val="5B6B7A"/>
                </a:solidFill>
                <a:latin typeface="Calibri" pitchFamily="34" charset="0"/>
                <a:ea typeface="Calibri" pitchFamily="34" charset="-122"/>
                <a:cs typeface="Calibri" pitchFamily="34" charset="-120"/>
              </a:rPr>
              <a:t>The model only sees the facts file, so the report stays grounded in the analysis.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000" b="1" dirty="0">
                <a:solidFill>
                  <a:srgbClr val="12263A"/>
                </a:solidFill>
                <a:latin typeface="Calibri" pitchFamily="34" charset="0"/>
                <a:ea typeface="Calibri" pitchFamily="34" charset="-122"/>
                <a:cs typeface="Calibri" pitchFamily="34" charset="-120"/>
              </a:rPr>
              <a:t>Honest limitations</a:t>
            </a:r>
            <a:endParaRPr lang="en-US" sz="3000" dirty="0"/>
          </a:p>
        </p:txBody>
      </p:sp>
      <p:sp>
        <p:nvSpPr>
          <p:cNvPr id="5" name="Text 2"/>
          <p:cNvSpPr txBox="1"/>
          <p:nvPr/>
        </p:nvSpPr>
        <p:spPr>
          <a:xfrm>
            <a:off x="548640" y="1280160"/>
            <a:ext cx="8046720" cy="31089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2263A"/>
                </a:solidFill>
                <a:latin typeface="Calibri" pitchFamily="34" charset="0"/>
                <a:ea typeface="Calibri" pitchFamily="34" charset="-122"/>
                <a:cs typeface="Calibri" pitchFamily="34" charset="-120"/>
              </a:rPr>
              <a:t>Detected area is much smaller than the EMSR927 reference</a:t>
            </a:r>
            <a:endParaRPr lang="en-US" sz="2000" dirty="0"/>
          </a:p>
          <a:p>
            <a:pPr marL="342900" indent="-342900">
              <a:spcAft>
                <a:spcPts val="1200"/>
              </a:spcAft>
              <a:buSzPct val="100000"/>
              <a:buChar char="•"/>
            </a:pPr>
            <a:r>
              <a:rPr lang="en-US" sz="2000" dirty="0">
                <a:solidFill>
                  <a:srgbClr val="12263A"/>
                </a:solidFill>
                <a:latin typeface="Calibri" pitchFamily="34" charset="0"/>
                <a:ea typeface="Calibri" pitchFamily="34" charset="-122"/>
                <a:cs typeface="Calibri" pitchFamily="34" charset="-120"/>
              </a:rPr>
              <a:t>Results depend strongly on detection thresholds</a:t>
            </a:r>
            <a:endParaRPr lang="en-US" sz="2000" dirty="0"/>
          </a:p>
          <a:p>
            <a:pPr marL="342900" indent="-342900">
              <a:spcAft>
                <a:spcPts val="1200"/>
              </a:spcAft>
              <a:buSzPct val="100000"/>
              <a:buChar char="•"/>
            </a:pPr>
            <a:r>
              <a:rPr lang="en-US" sz="2000" dirty="0">
                <a:solidFill>
                  <a:srgbClr val="12263A"/>
                </a:solidFill>
                <a:latin typeface="Calibri" pitchFamily="34" charset="0"/>
                <a:ea typeface="Calibri" pitchFamily="34" charset="-122"/>
                <a:cs typeface="Calibri" pitchFamily="34" charset="-120"/>
              </a:rPr>
              <a:t>OSM is thin in remote valleys: cut-off can hinge on one road segment</a:t>
            </a:r>
            <a:endParaRPr lang="en-US" sz="2000" dirty="0"/>
          </a:p>
          <a:p>
            <a:pPr marL="342900" indent="-342900">
              <a:spcAft>
                <a:spcPts val="1200"/>
              </a:spcAft>
              <a:buSzPct val="100000"/>
              <a:buChar char="•"/>
            </a:pPr>
            <a:r>
              <a:rPr lang="en-US" sz="2000" dirty="0">
                <a:solidFill>
                  <a:srgbClr val="12263A"/>
                </a:solidFill>
                <a:latin typeface="Calibri" pitchFamily="34" charset="0"/>
                <a:ea typeface="Calibri" pitchFamily="34" charset="-122"/>
                <a:cs typeface="Calibri" pitchFamily="34" charset="-120"/>
              </a:rPr>
              <a:t>Satellites revisit every few days: no early warning</a:t>
            </a:r>
            <a:endParaRPr lang="en-US" sz="2000" dirty="0"/>
          </a:p>
          <a:p>
            <a:pPr marL="342900" indent="-342900">
              <a:spcAft>
                <a:spcPts val="1200"/>
              </a:spcAft>
              <a:buSzPct val="100000"/>
              <a:buChar char="•"/>
            </a:pPr>
            <a:r>
              <a:rPr lang="en-US" sz="2000" dirty="0">
                <a:solidFill>
                  <a:srgbClr val="12263A"/>
                </a:solidFill>
                <a:latin typeface="Calibri" pitchFamily="34" charset="0"/>
                <a:ea typeface="Calibri" pitchFamily="34" charset="-122"/>
                <a:cs typeface="Calibri" pitchFamily="34" charset="-120"/>
              </a:rPr>
              <a:t>Damage is inferred from overlap, not field-verified</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B5A3"/>
          </a:solidFill>
          <a:ln w="12700">
            <a:solidFill>
              <a:srgbClr val="1FB5A3"/>
            </a:solidFill>
            <a:prstDash val="solid"/>
          </a:ln>
        </p:spPr>
      </p:sp>
      <p:sp>
        <p:nvSpPr>
          <p:cNvPr id="3" name="Text 1"/>
          <p:cNvSpPr txBox="1"/>
          <p:nvPr/>
        </p:nvSpPr>
        <p:spPr>
          <a:xfrm>
            <a:off x="640080" y="731520"/>
            <a:ext cx="786384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Next steps</a:t>
            </a:r>
            <a:endParaRPr lang="en-US" sz="3600" dirty="0"/>
          </a:p>
        </p:txBody>
      </p:sp>
      <p:sp>
        <p:nvSpPr>
          <p:cNvPr id="4" name="Text 2"/>
          <p:cNvSpPr txBox="1"/>
          <p:nvPr/>
        </p:nvSpPr>
        <p:spPr>
          <a:xfrm>
            <a:off x="640080" y="1645920"/>
            <a:ext cx="7863840" cy="1463040"/>
          </a:xfrm>
          <a:prstGeom prst="rect">
            <a:avLst/>
          </a:prstGeom>
          <a:noFill/>
          <a:ln/>
        </p:spPr>
        <p:txBody>
          <a:bodyPr wrap="square" lIns="0" tIns="0" rIns="0" bIns="0" rtlCol="0" anchor="ctr"/>
          <a:lstStyle/>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Calibrate thresholds on more flood events</a:t>
            </a:r>
            <a:endParaRPr lang="en-US" sz="2000" dirty="0"/>
          </a:p>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Add richer road data beyond OSM</a:t>
            </a:r>
            <a:endParaRPr lang="en-US" sz="2000" dirty="0"/>
          </a:p>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Validate with field and responder feedback</a:t>
            </a:r>
            <a:endParaRPr lang="en-US" sz="2000" dirty="0"/>
          </a:p>
        </p:txBody>
      </p:sp>
      <p:sp>
        <p:nvSpPr>
          <p:cNvPr id="5" name="Text 3"/>
          <p:cNvSpPr txBox="1"/>
          <p:nvPr/>
        </p:nvSpPr>
        <p:spPr>
          <a:xfrm>
            <a:off x="640080" y="3657600"/>
            <a:ext cx="7863840" cy="91440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Thank you · Questions?</a:t>
            </a:r>
            <a:endParaRPr lang="en-US" sz="1400" dirty="0"/>
          </a:p>
          <a:p>
            <a:pPr indent="0" marL="0">
              <a:buNone/>
            </a:pPr>
            <a:r>
              <a:rPr lang="en-US" sz="1400" dirty="0">
                <a:solidFill>
                  <a:srgbClr val="C9D6E2"/>
                </a:solidFill>
                <a:latin typeface="Calibri" pitchFamily="34" charset="0"/>
                <a:ea typeface="Calibri" pitchFamily="34" charset="-122"/>
                <a:cs typeface="Calibri" pitchFamily="34" charset="-120"/>
              </a:rPr>
              <a:t>Contains modified Copernicus Sentinel data 2026 · © OpenStreetMap contributors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FloodWatch</dc:title>
  <dc:subject>PptxGenJS Presentation</dc:subject>
  <dc:creator>PptxGenJS</dc:creator>
  <cp:lastModifiedBy>PptxGenJS</cp:lastModifiedBy>
  <cp:revision>1</cp:revision>
  <dcterms:created xsi:type="dcterms:W3CDTF">2026-10-14T18:04:55Z</dcterms:created>
  <dcterms:modified xsi:type="dcterms:W3CDTF">2026-10-14T18:04:55Z</dcterms:modified>
</cp:coreProperties>
</file>