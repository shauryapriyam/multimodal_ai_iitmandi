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5" r:id="rId8"/>
    <p:sldId id="262" r:id="rId9"/>
    <p:sldId id="263" r:id="rId10"/>
    <p:sldId id="264" r:id="rId1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7" d="100"/>
          <a:sy n="117" d="100"/>
        </p:scale>
        <p:origin x="466" y="8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297973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[0:00–0:20] Hi, we're Team Timepass, and this is FloodWatch, our entry for Track B, Mapping Flood Damage from Space. On 26 August 2026 a flood hit the Trishuli valley in Nepal. We asked: using only free satellite data, how quickly can we tell where it hit, what was damaged, and who is cut off? One note up front: this is an educational prototype, and nothing here is field-verified.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[0:20–0:45] After a flood, responders need three answers quickly. Where is the water or debris? Which buildings, roads and bridges are affected? And which communities can no longer reach a hospital? Cloud cover makes optical satellites unreliable in monsoon season, and remote valleys have little ground information. So we built around radar, which sees through clouds.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[0:45–1:20] You give FloodWatch a bounding box and a flood date. Step one: we compare Sentinel-1 radar from 16 August, before, with 28 August, after, same orbit track, so the images are directly comparable. Sentinel-2 optical was clear over only 18.9 percent of the area, so it is used only there and radar carries the result. Step two: we take buildings, roads and bridges from an OpenStreetMap snapshot dated 27 July, before the event, and count what overlaps the flood mask. Step three: we build a road graph, remove flooded segments, and check which settlements lose their route to a hospital. As a bonus, the Copernicus DEM traces the flood path down the valley.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[1:20–1:35] We kept the data rules strict. Inputs are Sentinel-1, Sentinel-2, Copernicus DEM and pre-event OpenStreetMap. We trained no model, so no training dataset is involved. The Copernicus EMS reference maps, EMSR927, are used only in the final evaluation cell, to check our results afterwards, never as an input. The whole pipeline runs from raw data with one run() call.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[1:35–2:15] Here are the results for the Trishuli case. The detected flood area is 9.77 square kilometres: 8.45 of radar-detected debris-affected ground and 1.32 of open water. Of 39,477 OSM buildings near the mask, 1,796 overlap it, and another 820 lie within 30 metres. 35.5 kilometres of 4,155 kilometres of road fall inside the mask, and 15 of 149 bridges. Treat 9.77 as a minimum, and note it depends on the threshold: from 1.6 to 29.1 square kilometres, radar only.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[2:15–2:40] We analysed 243 of 380 settlements for hospital access; 96 have no road within 500 metres, so we can't assess them, and we say so rather than guess. 27 Nepal-side settlements are flagged as possibly cut off from a hospital, and they also lose the route to the nearest town. 25 settlements with Chinese-script names are probably across the border, so we list them separately. This is a candidate list: one flagged road segment can cut a whole branch. The flood-path trace lists 12 settlements along the valley, out to about 48 kilometres downstream.</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[2:40–3:00] This is the interactive dashboard the pipeline produces. Red markers are settlements that lost their road link to a hospital, green ones kept a route, and grey ones have no road data nearby. The cyan line is the flood path traced from the DEM. Responders can toggle each layer, and the same numbers appear in the report tab, so the map and the figures always agree.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[3:00–3:20] Our AI component is a situation-report copilot. The report's key figures are written straight from facts.json, in English and Nepali. A language model adds a short summary and answers questions, but it only sees facts.json. Every number in its text is checked against that file. If a number isn't there, the text is rewritten up to three times, and if it still fails, the AI summary is left out and the figures stay. So the report can't invent numbers.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[3:20–3:45] We want to be upfront. Checked against EMSR927 inside its reference areas, our precision is high at 0.93 but recall is only 0.16, so we under-detect. Only 0.42 of our 9.77 square kilometres lies inside those areas, so the rest could not be checked. Our first run scored zero; we then changed the detector in structural ways, not fitted to EMSR927, but made after seeing that result. Results depend strongly on the threshold. OpenStreetMap is thin in remote valleys, so cut-off results can hinge on one road segment. And satellites revisit every few days, so this is not early warning. It's a fast first-look tool, not a replacement for field assessment.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[3:45–4:00] Next: calibrate thresholds against more flood events, add richer road data beyond OpenStreetMap, and validate with field teams and responders. Thank you from Team Timepass. We're happy to take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1FB5A3"/>
          </a:solidFill>
          <a:ln w="12700">
            <a:solidFill>
              <a:srgbClr val="1FB5A3"/>
            </a:solidFill>
            <a:prstDash val="solid"/>
          </a:ln>
        </p:spPr>
        <p:txBody>
          <a:bodyPr/>
          <a:lstStyle/>
          <a:p>
            <a:endParaRPr/>
          </a:p>
        </p:txBody>
      </p:sp>
      <p:sp>
        <p:nvSpPr>
          <p:cNvPr id="3" name="Text 1"/>
          <p:cNvSpPr txBox="1"/>
          <p:nvPr/>
        </p:nvSpPr>
        <p:spPr>
          <a:xfrm>
            <a:off x="640080" y="1280160"/>
            <a:ext cx="7863840" cy="914400"/>
          </a:xfrm>
          <a:prstGeom prst="rect">
            <a:avLst/>
          </a:prstGeom>
          <a:noFill/>
          <a:ln/>
        </p:spPr>
        <p:txBody>
          <a:bodyPr wrap="square" lIns="0" tIns="0" rIns="0" bIns="0" rtlCol="0" anchor="ctr"/>
          <a:lstStyle/>
          <a:p>
            <a:pPr marL="0" indent="0">
              <a:buNone/>
            </a:pPr>
            <a:r>
              <a:rPr lang="en-US" sz="5400" b="1" dirty="0">
                <a:solidFill>
                  <a:srgbClr val="FFFFFF"/>
                </a:solidFill>
                <a:latin typeface="Calibri" pitchFamily="34" charset="0"/>
                <a:ea typeface="Calibri" pitchFamily="34" charset="-122"/>
                <a:cs typeface="Calibri" pitchFamily="34" charset="-120"/>
              </a:rPr>
              <a:t>FloodWatch</a:t>
            </a:r>
            <a:endParaRPr lang="en-US" sz="5400" dirty="0"/>
          </a:p>
        </p:txBody>
      </p:sp>
      <p:sp>
        <p:nvSpPr>
          <p:cNvPr id="4" name="Text 2"/>
          <p:cNvSpPr txBox="1"/>
          <p:nvPr/>
        </p:nvSpPr>
        <p:spPr>
          <a:xfrm>
            <a:off x="640080" y="2194560"/>
            <a:ext cx="7863840" cy="457200"/>
          </a:xfrm>
          <a:prstGeom prst="rect">
            <a:avLst/>
          </a:prstGeom>
          <a:noFill/>
          <a:ln/>
        </p:spPr>
        <p:txBody>
          <a:bodyPr wrap="square" lIns="0" tIns="0" rIns="0" bIns="0" rtlCol="0" anchor="ctr"/>
          <a:lstStyle/>
          <a:p>
            <a:pPr marL="0" indent="0">
              <a:buNone/>
            </a:pPr>
            <a:r>
              <a:rPr lang="en-US" sz="2400" dirty="0">
                <a:solidFill>
                  <a:srgbClr val="1FB5A3"/>
                </a:solidFill>
                <a:latin typeface="Calibri" pitchFamily="34" charset="0"/>
                <a:ea typeface="Calibri" pitchFamily="34" charset="-122"/>
                <a:cs typeface="Calibri" pitchFamily="34" charset="-120"/>
              </a:rPr>
              <a:t>Mapping flood damage from space</a:t>
            </a:r>
            <a:endParaRPr lang="en-US" sz="2400" dirty="0"/>
          </a:p>
        </p:txBody>
      </p:sp>
      <p:sp>
        <p:nvSpPr>
          <p:cNvPr id="5" name="Text 3"/>
          <p:cNvSpPr txBox="1"/>
          <p:nvPr/>
        </p:nvSpPr>
        <p:spPr>
          <a:xfrm>
            <a:off x="640080" y="3017520"/>
            <a:ext cx="7863840" cy="1005840"/>
          </a:xfrm>
          <a:prstGeom prst="rect">
            <a:avLst/>
          </a:prstGeom>
          <a:noFill/>
          <a:ln/>
        </p:spPr>
        <p:txBody>
          <a:bodyPr wrap="square" lIns="0" tIns="0" rIns="0" bIns="0" rtlCol="0" anchor="ctr"/>
          <a:lstStyle/>
          <a:p>
            <a:pPr marL="0" indent="0">
              <a:buNone/>
            </a:pPr>
            <a:r>
              <a:rPr lang="en-US" sz="1500" dirty="0">
                <a:solidFill>
                  <a:srgbClr val="C9D6E2"/>
                </a:solidFill>
                <a:latin typeface="Calibri" pitchFamily="34" charset="0"/>
                <a:ea typeface="Calibri" pitchFamily="34" charset="-122"/>
                <a:cs typeface="Calibri" pitchFamily="34" charset="-120"/>
              </a:rPr>
              <a:t>Case study: Trishuli flood, Nepal, 26 August 2026</a:t>
            </a:r>
            <a:endParaRPr lang="en-US" sz="1500" dirty="0"/>
          </a:p>
          <a:p>
            <a:pPr marL="0" indent="0">
              <a:buNone/>
            </a:pPr>
            <a:r>
              <a:rPr lang="en-US" sz="1500" dirty="0">
                <a:solidFill>
                  <a:srgbClr val="C9D6E2"/>
                </a:solidFill>
                <a:latin typeface="Calibri" pitchFamily="34" charset="0"/>
                <a:ea typeface="Calibri" pitchFamily="34" charset="-122"/>
                <a:cs typeface="Calibri" pitchFamily="34" charset="-120"/>
              </a:rPr>
              <a:t>Multimodal AI Hackathon 2026 · Track B · Team Timepass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7FA"/>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1FB5A3"/>
          </a:solidFill>
          <a:ln w="12700">
            <a:solidFill>
              <a:srgbClr val="1FB5A3"/>
            </a:solidFill>
            <a:prstDash val="solid"/>
          </a:ln>
        </p:spPr>
      </p:sp>
      <p:sp>
        <p:nvSpPr>
          <p:cNvPr id="3" name="Text 1"/>
          <p:cNvSpPr txBox="1"/>
          <p:nvPr/>
        </p:nvSpPr>
        <p:spPr>
          <a:xfrm>
            <a:off x="548640" y="320040"/>
            <a:ext cx="8046720" cy="640080"/>
          </a:xfrm>
          <a:prstGeom prst="rect">
            <a:avLst/>
          </a:prstGeom>
          <a:noFill/>
          <a:ln/>
        </p:spPr>
        <p:txBody>
          <a:bodyPr wrap="square" lIns="0" tIns="0" rIns="0" bIns="0" rtlCol="0" anchor="ctr"/>
          <a:lstStyle/>
          <a:p>
            <a:pPr marL="0" indent="0">
              <a:buNone/>
            </a:pPr>
            <a:r>
              <a:rPr lang="en-US" sz="3000" b="1" dirty="0">
                <a:solidFill>
                  <a:srgbClr val="12263A"/>
                </a:solidFill>
                <a:latin typeface="Calibri" pitchFamily="34" charset="0"/>
                <a:ea typeface="Calibri" pitchFamily="34" charset="-122"/>
                <a:cs typeface="Calibri" pitchFamily="34" charset="-120"/>
              </a:rPr>
              <a:t>Floods hit fast, and information comes slowly</a:t>
            </a:r>
            <a:endParaRPr lang="en-US" sz="3000" dirty="0"/>
          </a:p>
        </p:txBody>
      </p:sp>
      <p:sp>
        <p:nvSpPr>
          <p:cNvPr id="5" name="Shape 2"/>
          <p:cNvSpPr/>
          <p:nvPr/>
        </p:nvSpPr>
        <p:spPr>
          <a:xfrm>
            <a:off x="548640" y="1371600"/>
            <a:ext cx="2606040" cy="2286000"/>
          </a:xfrm>
          <a:prstGeom prst="roundRect">
            <a:avLst>
              <a:gd name="adj" fmla="val 4000"/>
            </a:avLst>
          </a:prstGeom>
          <a:solidFill>
            <a:srgbClr val="FFFFFF"/>
          </a:solidFill>
          <a:ln w="12700">
            <a:solidFill>
              <a:srgbClr val="D5DEE6"/>
            </a:solidFill>
            <a:prstDash val="solid"/>
          </a:ln>
        </p:spPr>
      </p:sp>
      <p:sp>
        <p:nvSpPr>
          <p:cNvPr id="6" name="Text 3"/>
          <p:cNvSpPr txBox="1"/>
          <p:nvPr/>
        </p:nvSpPr>
        <p:spPr>
          <a:xfrm>
            <a:off x="777240" y="1554480"/>
            <a:ext cx="2194560" cy="548640"/>
          </a:xfrm>
          <a:prstGeom prst="rect">
            <a:avLst/>
          </a:prstGeom>
          <a:noFill/>
          <a:ln/>
        </p:spPr>
        <p:txBody>
          <a:bodyPr wrap="square" lIns="0" tIns="0" rIns="0" bIns="0" rtlCol="0" anchor="ctr"/>
          <a:lstStyle/>
          <a:p>
            <a:pPr marL="0" indent="0">
              <a:buNone/>
            </a:pPr>
            <a:r>
              <a:rPr lang="en-US" sz="2800" b="1" dirty="0">
                <a:solidFill>
                  <a:srgbClr val="1FB5A3"/>
                </a:solidFill>
                <a:latin typeface="Calibri" pitchFamily="34" charset="0"/>
                <a:ea typeface="Calibri" pitchFamily="34" charset="-122"/>
                <a:cs typeface="Calibri" pitchFamily="34" charset="-120"/>
              </a:rPr>
              <a:t>Where?</a:t>
            </a:r>
            <a:endParaRPr lang="en-US" sz="2800" dirty="0"/>
          </a:p>
        </p:txBody>
      </p:sp>
      <p:sp>
        <p:nvSpPr>
          <p:cNvPr id="7" name="Text 4"/>
          <p:cNvSpPr txBox="1"/>
          <p:nvPr/>
        </p:nvSpPr>
        <p:spPr>
          <a:xfrm>
            <a:off x="777240" y="2194560"/>
            <a:ext cx="2194560" cy="1280160"/>
          </a:xfrm>
          <a:prstGeom prst="rect">
            <a:avLst/>
          </a:prstGeom>
          <a:noFill/>
          <a:ln/>
        </p:spPr>
        <p:txBody>
          <a:bodyPr wrap="square" lIns="0" tIns="0" rIns="0" bIns="0" rtlCol="0" anchor="t"/>
          <a:lstStyle/>
          <a:p>
            <a:pPr marL="0" indent="0">
              <a:buNone/>
            </a:pPr>
            <a:r>
              <a:rPr lang="en-US" sz="1600" dirty="0">
                <a:solidFill>
                  <a:srgbClr val="12263A"/>
                </a:solidFill>
                <a:latin typeface="Calibri" pitchFamily="34" charset="0"/>
                <a:ea typeface="Calibri" pitchFamily="34" charset="-122"/>
                <a:cs typeface="Calibri" pitchFamily="34" charset="-120"/>
              </a:rPr>
              <a:t>Water and debris extent, even under monsoon cloud</a:t>
            </a:r>
            <a:endParaRPr lang="en-US" sz="1600" dirty="0"/>
          </a:p>
        </p:txBody>
      </p:sp>
      <p:sp>
        <p:nvSpPr>
          <p:cNvPr id="8" name="Shape 5"/>
          <p:cNvSpPr/>
          <p:nvPr/>
        </p:nvSpPr>
        <p:spPr>
          <a:xfrm>
            <a:off x="3337560" y="1371600"/>
            <a:ext cx="2606040" cy="2286000"/>
          </a:xfrm>
          <a:prstGeom prst="roundRect">
            <a:avLst>
              <a:gd name="adj" fmla="val 4000"/>
            </a:avLst>
          </a:prstGeom>
          <a:solidFill>
            <a:srgbClr val="FFFFFF"/>
          </a:solidFill>
          <a:ln w="12700">
            <a:solidFill>
              <a:srgbClr val="D5DEE6"/>
            </a:solidFill>
            <a:prstDash val="solid"/>
          </a:ln>
        </p:spPr>
      </p:sp>
      <p:sp>
        <p:nvSpPr>
          <p:cNvPr id="9" name="Text 6"/>
          <p:cNvSpPr txBox="1"/>
          <p:nvPr/>
        </p:nvSpPr>
        <p:spPr>
          <a:xfrm>
            <a:off x="3566160" y="1554480"/>
            <a:ext cx="2194560" cy="548640"/>
          </a:xfrm>
          <a:prstGeom prst="rect">
            <a:avLst/>
          </a:prstGeom>
          <a:noFill/>
          <a:ln/>
        </p:spPr>
        <p:txBody>
          <a:bodyPr wrap="square" lIns="0" tIns="0" rIns="0" bIns="0" rtlCol="0" anchor="ctr"/>
          <a:lstStyle/>
          <a:p>
            <a:pPr marL="0" indent="0">
              <a:buNone/>
            </a:pPr>
            <a:r>
              <a:rPr lang="en-US" sz="2800" b="1" dirty="0">
                <a:solidFill>
                  <a:srgbClr val="1FB5A3"/>
                </a:solidFill>
                <a:latin typeface="Calibri" pitchFamily="34" charset="0"/>
                <a:ea typeface="Calibri" pitchFamily="34" charset="-122"/>
                <a:cs typeface="Calibri" pitchFamily="34" charset="-120"/>
              </a:rPr>
              <a:t>What?</a:t>
            </a:r>
            <a:endParaRPr lang="en-US" sz="2800" dirty="0"/>
          </a:p>
        </p:txBody>
      </p:sp>
      <p:sp>
        <p:nvSpPr>
          <p:cNvPr id="10" name="Text 7"/>
          <p:cNvSpPr txBox="1"/>
          <p:nvPr/>
        </p:nvSpPr>
        <p:spPr>
          <a:xfrm>
            <a:off x="3566160" y="2194560"/>
            <a:ext cx="2194560" cy="1280160"/>
          </a:xfrm>
          <a:prstGeom prst="rect">
            <a:avLst/>
          </a:prstGeom>
          <a:noFill/>
          <a:ln/>
        </p:spPr>
        <p:txBody>
          <a:bodyPr wrap="square" lIns="0" tIns="0" rIns="0" bIns="0" rtlCol="0" anchor="t"/>
          <a:lstStyle/>
          <a:p>
            <a:pPr marL="0" indent="0">
              <a:buNone/>
            </a:pPr>
            <a:r>
              <a:rPr lang="en-US" sz="1600" dirty="0">
                <a:solidFill>
                  <a:srgbClr val="12263A"/>
                </a:solidFill>
                <a:latin typeface="Calibri" pitchFamily="34" charset="0"/>
                <a:ea typeface="Calibri" pitchFamily="34" charset="-122"/>
                <a:cs typeface="Calibri" pitchFamily="34" charset="-120"/>
              </a:rPr>
              <a:t>Buildings, roads and bridges affected</a:t>
            </a:r>
            <a:endParaRPr lang="en-US" sz="1600" dirty="0"/>
          </a:p>
        </p:txBody>
      </p:sp>
      <p:sp>
        <p:nvSpPr>
          <p:cNvPr id="11" name="Shape 8"/>
          <p:cNvSpPr/>
          <p:nvPr/>
        </p:nvSpPr>
        <p:spPr>
          <a:xfrm>
            <a:off x="6126480" y="1371600"/>
            <a:ext cx="2606040" cy="2286000"/>
          </a:xfrm>
          <a:prstGeom prst="roundRect">
            <a:avLst>
              <a:gd name="adj" fmla="val 4000"/>
            </a:avLst>
          </a:prstGeom>
          <a:solidFill>
            <a:srgbClr val="FFFFFF"/>
          </a:solidFill>
          <a:ln w="12700">
            <a:solidFill>
              <a:srgbClr val="D5DEE6"/>
            </a:solidFill>
            <a:prstDash val="solid"/>
          </a:ln>
        </p:spPr>
      </p:sp>
      <p:sp>
        <p:nvSpPr>
          <p:cNvPr id="12" name="Text 9"/>
          <p:cNvSpPr txBox="1"/>
          <p:nvPr/>
        </p:nvSpPr>
        <p:spPr>
          <a:xfrm>
            <a:off x="6355080" y="1554480"/>
            <a:ext cx="2194560" cy="548640"/>
          </a:xfrm>
          <a:prstGeom prst="rect">
            <a:avLst/>
          </a:prstGeom>
          <a:noFill/>
          <a:ln/>
        </p:spPr>
        <p:txBody>
          <a:bodyPr wrap="square" lIns="0" tIns="0" rIns="0" bIns="0" rtlCol="0" anchor="ctr"/>
          <a:lstStyle/>
          <a:p>
            <a:pPr marL="0" indent="0">
              <a:buNone/>
            </a:pPr>
            <a:r>
              <a:rPr lang="en-US" sz="2800" b="1" dirty="0">
                <a:solidFill>
                  <a:srgbClr val="1FB5A3"/>
                </a:solidFill>
                <a:latin typeface="Calibri" pitchFamily="34" charset="0"/>
                <a:ea typeface="Calibri" pitchFamily="34" charset="-122"/>
                <a:cs typeface="Calibri" pitchFamily="34" charset="-120"/>
              </a:rPr>
              <a:t>Who?</a:t>
            </a:r>
            <a:endParaRPr lang="en-US" sz="2800" dirty="0"/>
          </a:p>
        </p:txBody>
      </p:sp>
      <p:sp>
        <p:nvSpPr>
          <p:cNvPr id="13" name="Text 10"/>
          <p:cNvSpPr txBox="1"/>
          <p:nvPr/>
        </p:nvSpPr>
        <p:spPr>
          <a:xfrm>
            <a:off x="6355080" y="2194560"/>
            <a:ext cx="2194560" cy="1280160"/>
          </a:xfrm>
          <a:prstGeom prst="rect">
            <a:avLst/>
          </a:prstGeom>
          <a:noFill/>
          <a:ln/>
        </p:spPr>
        <p:txBody>
          <a:bodyPr wrap="square" lIns="0" tIns="0" rIns="0" bIns="0" rtlCol="0" anchor="t"/>
          <a:lstStyle/>
          <a:p>
            <a:pPr marL="0" indent="0">
              <a:buNone/>
            </a:pPr>
            <a:r>
              <a:rPr lang="en-US" sz="1600" dirty="0">
                <a:solidFill>
                  <a:srgbClr val="12263A"/>
                </a:solidFill>
                <a:latin typeface="Calibri" pitchFamily="34" charset="0"/>
                <a:ea typeface="Calibri" pitchFamily="34" charset="-122"/>
                <a:cs typeface="Calibri" pitchFamily="34" charset="-120"/>
              </a:rPr>
              <a:t>Communities cut off from the nearest hospital</a:t>
            </a:r>
            <a:endParaRPr lang="en-US" sz="1600" dirty="0"/>
          </a:p>
        </p:txBody>
      </p:sp>
      <p:sp>
        <p:nvSpPr>
          <p:cNvPr id="14" name="Text 11"/>
          <p:cNvSpPr txBox="1"/>
          <p:nvPr/>
        </p:nvSpPr>
        <p:spPr>
          <a:xfrm>
            <a:off x="548640" y="4023360"/>
            <a:ext cx="8046720" cy="457200"/>
          </a:xfrm>
          <a:prstGeom prst="rect">
            <a:avLst/>
          </a:prstGeom>
          <a:noFill/>
          <a:ln/>
        </p:spPr>
        <p:txBody>
          <a:bodyPr wrap="square" lIns="0" tIns="0" rIns="0" bIns="0" rtlCol="0" anchor="ctr"/>
          <a:lstStyle/>
          <a:p>
            <a:pPr marL="0" indent="0">
              <a:buNone/>
            </a:pPr>
            <a:r>
              <a:rPr lang="en-US" sz="1600" i="1" dirty="0">
                <a:solidFill>
                  <a:srgbClr val="5B6B7A"/>
                </a:solidFill>
                <a:latin typeface="Calibri" pitchFamily="34" charset="0"/>
                <a:ea typeface="Calibri" pitchFamily="34" charset="-122"/>
                <a:cs typeface="Calibri" pitchFamily="34" charset="-120"/>
              </a:rPr>
              <a:t>Radar sees through clouds, so we build on Sentinel-1.</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7FA"/>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1FB5A3"/>
          </a:solidFill>
          <a:ln w="12700">
            <a:solidFill>
              <a:srgbClr val="1FB5A3"/>
            </a:solidFill>
            <a:prstDash val="solid"/>
          </a:ln>
        </p:spPr>
        <p:txBody>
          <a:bodyPr/>
          <a:lstStyle/>
          <a:p>
            <a:endParaRPr/>
          </a:p>
        </p:txBody>
      </p:sp>
      <p:sp>
        <p:nvSpPr>
          <p:cNvPr id="3" name="Text 1"/>
          <p:cNvSpPr txBox="1"/>
          <p:nvPr/>
        </p:nvSpPr>
        <p:spPr>
          <a:xfrm>
            <a:off x="548640" y="320040"/>
            <a:ext cx="8046720" cy="640080"/>
          </a:xfrm>
          <a:prstGeom prst="rect">
            <a:avLst/>
          </a:prstGeom>
          <a:noFill/>
          <a:ln/>
        </p:spPr>
        <p:txBody>
          <a:bodyPr wrap="square" lIns="0" tIns="0" rIns="0" bIns="0" rtlCol="0" anchor="ctr"/>
          <a:lstStyle/>
          <a:p>
            <a:pPr marL="0" indent="0">
              <a:buNone/>
            </a:pPr>
            <a:r>
              <a:rPr lang="en-US" sz="3000" b="1" dirty="0">
                <a:solidFill>
                  <a:srgbClr val="12263A"/>
                </a:solidFill>
                <a:latin typeface="Calibri" pitchFamily="34" charset="0"/>
                <a:ea typeface="Calibri" pitchFamily="34" charset="-122"/>
                <a:cs typeface="Calibri" pitchFamily="34" charset="-120"/>
              </a:rPr>
              <a:t>How it works</a:t>
            </a:r>
            <a:endParaRPr lang="en-US" sz="3000" dirty="0"/>
          </a:p>
        </p:txBody>
      </p:sp>
      <p:sp>
        <p:nvSpPr>
          <p:cNvPr id="5" name="Shape 2"/>
          <p:cNvSpPr/>
          <p:nvPr/>
        </p:nvSpPr>
        <p:spPr>
          <a:xfrm>
            <a:off x="548640" y="1280160"/>
            <a:ext cx="8046720" cy="868680"/>
          </a:xfrm>
          <a:prstGeom prst="rect">
            <a:avLst/>
          </a:prstGeom>
          <a:solidFill>
            <a:srgbClr val="FFFFFF"/>
          </a:solidFill>
          <a:ln w="12700">
            <a:solidFill>
              <a:srgbClr val="D5DEE6"/>
            </a:solidFill>
            <a:prstDash val="solid"/>
          </a:ln>
        </p:spPr>
        <p:txBody>
          <a:bodyPr/>
          <a:lstStyle/>
          <a:p>
            <a:endParaRPr/>
          </a:p>
        </p:txBody>
      </p:sp>
      <p:sp>
        <p:nvSpPr>
          <p:cNvPr id="6" name="Shape 3"/>
          <p:cNvSpPr/>
          <p:nvPr/>
        </p:nvSpPr>
        <p:spPr>
          <a:xfrm>
            <a:off x="548640" y="1280160"/>
            <a:ext cx="73152" cy="868680"/>
          </a:xfrm>
          <a:prstGeom prst="rect">
            <a:avLst/>
          </a:prstGeom>
          <a:solidFill>
            <a:srgbClr val="1FB5A3"/>
          </a:solidFill>
          <a:ln w="12700">
            <a:solidFill>
              <a:srgbClr val="1FB5A3"/>
            </a:solidFill>
            <a:prstDash val="solid"/>
          </a:ln>
        </p:spPr>
        <p:txBody>
          <a:bodyPr/>
          <a:lstStyle/>
          <a:p>
            <a:endParaRPr/>
          </a:p>
        </p:txBody>
      </p:sp>
      <p:sp>
        <p:nvSpPr>
          <p:cNvPr id="7" name="Text 4"/>
          <p:cNvSpPr txBox="1"/>
          <p:nvPr/>
        </p:nvSpPr>
        <p:spPr>
          <a:xfrm>
            <a:off x="822960" y="1280160"/>
            <a:ext cx="2011680" cy="868680"/>
          </a:xfrm>
          <a:prstGeom prst="rect">
            <a:avLst/>
          </a:prstGeom>
          <a:noFill/>
          <a:ln/>
        </p:spPr>
        <p:txBody>
          <a:bodyPr wrap="square" lIns="0" tIns="0" rIns="0" bIns="0" rtlCol="0" anchor="ctr"/>
          <a:lstStyle/>
          <a:p>
            <a:pPr marL="0" indent="0">
              <a:buNone/>
            </a:pPr>
            <a:r>
              <a:rPr lang="en-US" sz="1800" b="1" dirty="0">
                <a:solidFill>
                  <a:srgbClr val="12263A"/>
                </a:solidFill>
                <a:latin typeface="Calibri" pitchFamily="34" charset="0"/>
                <a:ea typeface="Calibri" pitchFamily="34" charset="-122"/>
                <a:cs typeface="Calibri" pitchFamily="34" charset="-120"/>
              </a:rPr>
              <a:t>1  Flood mask</a:t>
            </a:r>
            <a:endParaRPr lang="en-US" sz="1800" dirty="0"/>
          </a:p>
        </p:txBody>
      </p:sp>
      <p:sp>
        <p:nvSpPr>
          <p:cNvPr id="8" name="Text 5"/>
          <p:cNvSpPr txBox="1"/>
          <p:nvPr/>
        </p:nvSpPr>
        <p:spPr>
          <a:xfrm>
            <a:off x="2926080" y="1280160"/>
            <a:ext cx="5486400" cy="868680"/>
          </a:xfrm>
          <a:prstGeom prst="rect">
            <a:avLst/>
          </a:prstGeom>
          <a:noFill/>
          <a:ln/>
        </p:spPr>
        <p:txBody>
          <a:bodyPr wrap="square" lIns="0" tIns="0" rIns="0" bIns="0" rtlCol="0" anchor="ctr"/>
          <a:lstStyle/>
          <a:p>
            <a:pPr marL="0" indent="0">
              <a:buNone/>
            </a:pPr>
            <a:r>
              <a:rPr lang="en-US" sz="1400" dirty="0">
                <a:solidFill>
                  <a:srgbClr val="12263A"/>
                </a:solidFill>
                <a:latin typeface="Calibri" pitchFamily="34" charset="0"/>
                <a:ea typeface="Calibri" pitchFamily="34" charset="-122"/>
                <a:cs typeface="Calibri" pitchFamily="34" charset="-120"/>
              </a:rPr>
              <a:t>Sentinel-1 before (16 Aug) vs after (28 Aug), same orbit. Sentinel-2 added where both dates are clear (18.9% of the area).</a:t>
            </a:r>
            <a:endParaRPr lang="en-US" sz="1400" dirty="0"/>
          </a:p>
        </p:txBody>
      </p:sp>
      <p:sp>
        <p:nvSpPr>
          <p:cNvPr id="9" name="Shape 6"/>
          <p:cNvSpPr/>
          <p:nvPr/>
        </p:nvSpPr>
        <p:spPr>
          <a:xfrm>
            <a:off x="548640" y="2331720"/>
            <a:ext cx="8046720" cy="868680"/>
          </a:xfrm>
          <a:prstGeom prst="rect">
            <a:avLst/>
          </a:prstGeom>
          <a:solidFill>
            <a:srgbClr val="FFFFFF"/>
          </a:solidFill>
          <a:ln w="12700">
            <a:solidFill>
              <a:srgbClr val="D5DEE6"/>
            </a:solidFill>
            <a:prstDash val="solid"/>
          </a:ln>
        </p:spPr>
        <p:txBody>
          <a:bodyPr/>
          <a:lstStyle/>
          <a:p>
            <a:endParaRPr/>
          </a:p>
        </p:txBody>
      </p:sp>
      <p:sp>
        <p:nvSpPr>
          <p:cNvPr id="10" name="Shape 7"/>
          <p:cNvSpPr/>
          <p:nvPr/>
        </p:nvSpPr>
        <p:spPr>
          <a:xfrm>
            <a:off x="548640" y="2331720"/>
            <a:ext cx="73152" cy="868680"/>
          </a:xfrm>
          <a:prstGeom prst="rect">
            <a:avLst/>
          </a:prstGeom>
          <a:solidFill>
            <a:srgbClr val="1FB5A3"/>
          </a:solidFill>
          <a:ln w="12700">
            <a:solidFill>
              <a:srgbClr val="1FB5A3"/>
            </a:solidFill>
            <a:prstDash val="solid"/>
          </a:ln>
        </p:spPr>
        <p:txBody>
          <a:bodyPr/>
          <a:lstStyle/>
          <a:p>
            <a:endParaRPr/>
          </a:p>
        </p:txBody>
      </p:sp>
      <p:sp>
        <p:nvSpPr>
          <p:cNvPr id="11" name="Text 8"/>
          <p:cNvSpPr txBox="1"/>
          <p:nvPr/>
        </p:nvSpPr>
        <p:spPr>
          <a:xfrm>
            <a:off x="822960" y="2331720"/>
            <a:ext cx="2011680" cy="868680"/>
          </a:xfrm>
          <a:prstGeom prst="rect">
            <a:avLst/>
          </a:prstGeom>
          <a:noFill/>
          <a:ln/>
        </p:spPr>
        <p:txBody>
          <a:bodyPr wrap="square" lIns="0" tIns="0" rIns="0" bIns="0" rtlCol="0" anchor="ctr"/>
          <a:lstStyle/>
          <a:p>
            <a:pPr marL="0" indent="0">
              <a:buNone/>
            </a:pPr>
            <a:r>
              <a:rPr lang="en-US" sz="1800" b="1" dirty="0">
                <a:solidFill>
                  <a:srgbClr val="12263A"/>
                </a:solidFill>
                <a:latin typeface="Calibri" pitchFamily="34" charset="0"/>
                <a:ea typeface="Calibri" pitchFamily="34" charset="-122"/>
                <a:cs typeface="Calibri" pitchFamily="34" charset="-120"/>
              </a:rPr>
              <a:t>2  Damage</a:t>
            </a:r>
            <a:endParaRPr lang="en-US" sz="1800" dirty="0"/>
          </a:p>
        </p:txBody>
      </p:sp>
      <p:sp>
        <p:nvSpPr>
          <p:cNvPr id="12" name="Text 9"/>
          <p:cNvSpPr txBox="1"/>
          <p:nvPr/>
        </p:nvSpPr>
        <p:spPr>
          <a:xfrm>
            <a:off x="2926080" y="2331720"/>
            <a:ext cx="5486400" cy="868680"/>
          </a:xfrm>
          <a:prstGeom prst="rect">
            <a:avLst/>
          </a:prstGeom>
          <a:noFill/>
          <a:ln/>
        </p:spPr>
        <p:txBody>
          <a:bodyPr wrap="square" lIns="0" tIns="0" rIns="0" bIns="0" rtlCol="0" anchor="ctr"/>
          <a:lstStyle/>
          <a:p>
            <a:pPr marL="0" indent="0">
              <a:buNone/>
            </a:pPr>
            <a:r>
              <a:rPr lang="en-US" sz="1400" dirty="0">
                <a:solidFill>
                  <a:srgbClr val="12263A"/>
                </a:solidFill>
                <a:latin typeface="Calibri" pitchFamily="34" charset="0"/>
                <a:ea typeface="Calibri" pitchFamily="34" charset="-122"/>
                <a:cs typeface="Calibri" pitchFamily="34" charset="-120"/>
              </a:rPr>
              <a:t>Pre-event OSM snapshot (27 Jul): buildings, roads, bridges overlapping the mask.</a:t>
            </a:r>
            <a:endParaRPr lang="en-US" sz="1400" dirty="0"/>
          </a:p>
        </p:txBody>
      </p:sp>
      <p:sp>
        <p:nvSpPr>
          <p:cNvPr id="13" name="Shape 10"/>
          <p:cNvSpPr/>
          <p:nvPr/>
        </p:nvSpPr>
        <p:spPr>
          <a:xfrm>
            <a:off x="548640" y="3383280"/>
            <a:ext cx="8046720" cy="868680"/>
          </a:xfrm>
          <a:prstGeom prst="rect">
            <a:avLst/>
          </a:prstGeom>
          <a:solidFill>
            <a:srgbClr val="FFFFFF"/>
          </a:solidFill>
          <a:ln w="12700">
            <a:solidFill>
              <a:srgbClr val="D5DEE6"/>
            </a:solidFill>
            <a:prstDash val="solid"/>
          </a:ln>
        </p:spPr>
        <p:txBody>
          <a:bodyPr/>
          <a:lstStyle/>
          <a:p>
            <a:endParaRPr/>
          </a:p>
        </p:txBody>
      </p:sp>
      <p:sp>
        <p:nvSpPr>
          <p:cNvPr id="14" name="Shape 11"/>
          <p:cNvSpPr/>
          <p:nvPr/>
        </p:nvSpPr>
        <p:spPr>
          <a:xfrm>
            <a:off x="548640" y="3383280"/>
            <a:ext cx="73152" cy="868680"/>
          </a:xfrm>
          <a:prstGeom prst="rect">
            <a:avLst/>
          </a:prstGeom>
          <a:solidFill>
            <a:srgbClr val="1FB5A3"/>
          </a:solidFill>
          <a:ln w="12700">
            <a:solidFill>
              <a:srgbClr val="1FB5A3"/>
            </a:solidFill>
            <a:prstDash val="solid"/>
          </a:ln>
        </p:spPr>
        <p:txBody>
          <a:bodyPr/>
          <a:lstStyle/>
          <a:p>
            <a:endParaRPr/>
          </a:p>
        </p:txBody>
      </p:sp>
      <p:sp>
        <p:nvSpPr>
          <p:cNvPr id="15" name="Text 12"/>
          <p:cNvSpPr txBox="1"/>
          <p:nvPr/>
        </p:nvSpPr>
        <p:spPr>
          <a:xfrm>
            <a:off x="822960" y="3383280"/>
            <a:ext cx="2011680" cy="868680"/>
          </a:xfrm>
          <a:prstGeom prst="rect">
            <a:avLst/>
          </a:prstGeom>
          <a:noFill/>
          <a:ln/>
        </p:spPr>
        <p:txBody>
          <a:bodyPr wrap="square" lIns="0" tIns="0" rIns="0" bIns="0" rtlCol="0" anchor="ctr"/>
          <a:lstStyle/>
          <a:p>
            <a:pPr marL="0" indent="0">
              <a:buNone/>
            </a:pPr>
            <a:r>
              <a:rPr lang="en-US" sz="1800" b="1" dirty="0">
                <a:solidFill>
                  <a:srgbClr val="12263A"/>
                </a:solidFill>
                <a:latin typeface="Calibri" pitchFamily="34" charset="0"/>
                <a:ea typeface="Calibri" pitchFamily="34" charset="-122"/>
                <a:cs typeface="Calibri" pitchFamily="34" charset="-120"/>
              </a:rPr>
              <a:t>3  Cut-off</a:t>
            </a:r>
            <a:endParaRPr lang="en-US" sz="1800" dirty="0"/>
          </a:p>
        </p:txBody>
      </p:sp>
      <p:sp>
        <p:nvSpPr>
          <p:cNvPr id="16" name="Text 13"/>
          <p:cNvSpPr txBox="1"/>
          <p:nvPr/>
        </p:nvSpPr>
        <p:spPr>
          <a:xfrm>
            <a:off x="2926080" y="3383280"/>
            <a:ext cx="5486400" cy="868680"/>
          </a:xfrm>
          <a:prstGeom prst="rect">
            <a:avLst/>
          </a:prstGeom>
          <a:noFill/>
          <a:ln/>
        </p:spPr>
        <p:txBody>
          <a:bodyPr wrap="square" lIns="0" tIns="0" rIns="0" bIns="0" rtlCol="0" anchor="ctr"/>
          <a:lstStyle/>
          <a:p>
            <a:pPr marL="0" indent="0">
              <a:buNone/>
            </a:pPr>
            <a:r>
              <a:rPr lang="en-US" sz="1400" dirty="0">
                <a:solidFill>
                  <a:srgbClr val="12263A"/>
                </a:solidFill>
                <a:latin typeface="Calibri" pitchFamily="34" charset="0"/>
                <a:ea typeface="Calibri" pitchFamily="34" charset="-122"/>
                <a:cs typeface="Calibri" pitchFamily="34" charset="-120"/>
              </a:rPr>
              <a:t>Road graph minus flooded segments: who loses the route to a hospital?</a:t>
            </a:r>
            <a:endParaRPr lang="en-US" sz="1400" dirty="0"/>
          </a:p>
        </p:txBody>
      </p:sp>
      <p:sp>
        <p:nvSpPr>
          <p:cNvPr id="17" name="Text 14"/>
          <p:cNvSpPr txBox="1"/>
          <p:nvPr/>
        </p:nvSpPr>
        <p:spPr>
          <a:xfrm>
            <a:off x="548640" y="4480560"/>
            <a:ext cx="8046720" cy="365760"/>
          </a:xfrm>
          <a:prstGeom prst="rect">
            <a:avLst/>
          </a:prstGeom>
          <a:noFill/>
          <a:ln/>
        </p:spPr>
        <p:txBody>
          <a:bodyPr wrap="square" lIns="0" tIns="0" rIns="0" bIns="0" rtlCol="0" anchor="ctr"/>
          <a:lstStyle/>
          <a:p>
            <a:pPr marL="0" indent="0">
              <a:buNone/>
            </a:pPr>
            <a:r>
              <a:rPr lang="en-US" sz="1400" i="1" dirty="0">
                <a:solidFill>
                  <a:srgbClr val="5B6B7A"/>
                </a:solidFill>
                <a:latin typeface="Calibri" pitchFamily="34" charset="0"/>
                <a:ea typeface="Calibri" pitchFamily="34" charset="-122"/>
                <a:cs typeface="Calibri" pitchFamily="34" charset="-120"/>
              </a:rPr>
              <a:t>Bonus: Copernicus DEM traces the flood path down the valley.</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7FA"/>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1FB5A3"/>
          </a:solidFill>
          <a:ln w="12700">
            <a:solidFill>
              <a:srgbClr val="1FB5A3"/>
            </a:solidFill>
            <a:prstDash val="solid"/>
          </a:ln>
        </p:spPr>
      </p:sp>
      <p:sp>
        <p:nvSpPr>
          <p:cNvPr id="3" name="Text 1"/>
          <p:cNvSpPr txBox="1"/>
          <p:nvPr/>
        </p:nvSpPr>
        <p:spPr>
          <a:xfrm>
            <a:off x="548640" y="320040"/>
            <a:ext cx="8046720" cy="640080"/>
          </a:xfrm>
          <a:prstGeom prst="rect">
            <a:avLst/>
          </a:prstGeom>
          <a:noFill/>
          <a:ln/>
        </p:spPr>
        <p:txBody>
          <a:bodyPr wrap="square" lIns="0" tIns="0" rIns="0" bIns="0" rtlCol="0" anchor="ctr"/>
          <a:lstStyle/>
          <a:p>
            <a:pPr marL="0" indent="0">
              <a:buNone/>
            </a:pPr>
            <a:r>
              <a:rPr lang="en-US" sz="3000" b="1" dirty="0">
                <a:solidFill>
                  <a:srgbClr val="12263A"/>
                </a:solidFill>
                <a:latin typeface="Calibri" pitchFamily="34" charset="0"/>
                <a:ea typeface="Calibri" pitchFamily="34" charset="-122"/>
                <a:cs typeface="Calibri" pitchFamily="34" charset="-120"/>
              </a:rPr>
              <a:t>Data rules we followed</a:t>
            </a:r>
            <a:endParaRPr lang="en-US" sz="3000" dirty="0"/>
          </a:p>
        </p:txBody>
      </p:sp>
      <p:sp>
        <p:nvSpPr>
          <p:cNvPr id="5" name="Text 2"/>
          <p:cNvSpPr txBox="1"/>
          <p:nvPr/>
        </p:nvSpPr>
        <p:spPr>
          <a:xfrm>
            <a:off x="548640" y="1371600"/>
            <a:ext cx="8046720" cy="2743200"/>
          </a:xfrm>
          <a:prstGeom prst="rect">
            <a:avLst/>
          </a:prstGeom>
          <a:noFill/>
          <a:ln/>
        </p:spPr>
        <p:txBody>
          <a:bodyPr wrap="square" lIns="0" tIns="0" rIns="0" bIns="0" rtlCol="0" anchor="t"/>
          <a:lstStyle/>
          <a:p>
            <a:pPr marL="0" indent="0">
              <a:spcAft>
                <a:spcPts val="1800"/>
              </a:spcAft>
              <a:buNone/>
            </a:pPr>
            <a:r>
              <a:rPr lang="en-US" sz="2000" b="1" dirty="0">
                <a:solidFill>
                  <a:srgbClr val="12263A"/>
                </a:solidFill>
                <a:latin typeface="Calibri" pitchFamily="34" charset="0"/>
                <a:ea typeface="Calibri" pitchFamily="34" charset="-122"/>
                <a:cs typeface="Calibri" pitchFamily="34" charset="-120"/>
              </a:rPr>
              <a:t>Inputs: </a:t>
            </a:r>
            <a:r>
              <a:rPr lang="en-US" sz="2000" dirty="0">
                <a:solidFill>
                  <a:srgbClr val="12263A"/>
                </a:solidFill>
                <a:latin typeface="Calibri" pitchFamily="34" charset="0"/>
                <a:ea typeface="Calibri" pitchFamily="34" charset="-122"/>
                <a:cs typeface="Calibri" pitchFamily="34" charset="-120"/>
              </a:rPr>
              <a:t>Sentinel-1, Sentinel-2, Copernicus DEM, pre-event OpenStreetMap</a:t>
            </a:r>
            <a:endParaRPr lang="en-US" sz="2000" dirty="0"/>
          </a:p>
          <a:p>
            <a:pPr marL="0" indent="0">
              <a:spcAft>
                <a:spcPts val="1800"/>
              </a:spcAft>
              <a:buNone/>
            </a:pPr>
            <a:r>
              <a:rPr lang="en-US" sz="2000" b="1" dirty="0">
                <a:solidFill>
                  <a:srgbClr val="12263A"/>
                </a:solidFill>
                <a:latin typeface="Calibri" pitchFamily="34" charset="0"/>
                <a:ea typeface="Calibri" pitchFamily="34" charset="-122"/>
                <a:cs typeface="Calibri" pitchFamily="34" charset="-120"/>
              </a:rPr>
              <a:t>No model trained: </a:t>
            </a:r>
            <a:r>
              <a:rPr lang="en-US" sz="2000" dirty="0">
                <a:solidFill>
                  <a:srgbClr val="12263A"/>
                </a:solidFill>
                <a:latin typeface="Calibri" pitchFamily="34" charset="0"/>
                <a:ea typeface="Calibri" pitchFamily="34" charset="-122"/>
                <a:cs typeface="Calibri" pitchFamily="34" charset="-120"/>
              </a:rPr>
              <a:t>no training dataset used</a:t>
            </a:r>
            <a:endParaRPr lang="en-US" sz="2000" dirty="0"/>
          </a:p>
          <a:p>
            <a:pPr marL="0" indent="0">
              <a:spcAft>
                <a:spcPts val="1800"/>
              </a:spcAft>
              <a:buNone/>
            </a:pPr>
            <a:r>
              <a:rPr lang="en-US" sz="2000" b="1" dirty="0">
                <a:solidFill>
                  <a:srgbClr val="12263A"/>
                </a:solidFill>
                <a:latin typeface="Calibri" pitchFamily="34" charset="0"/>
                <a:ea typeface="Calibri" pitchFamily="34" charset="-122"/>
                <a:cs typeface="Calibri" pitchFamily="34" charset="-120"/>
              </a:rPr>
              <a:t>EMSR927 reference: </a:t>
            </a:r>
            <a:r>
              <a:rPr lang="en-US" sz="2000" dirty="0">
                <a:solidFill>
                  <a:srgbClr val="12263A"/>
                </a:solidFill>
                <a:latin typeface="Calibri" pitchFamily="34" charset="0"/>
                <a:ea typeface="Calibri" pitchFamily="34" charset="-122"/>
                <a:cs typeface="Calibri" pitchFamily="34" charset="-120"/>
              </a:rPr>
              <a:t>final evaluation only, never a pipeline input</a:t>
            </a:r>
            <a:endParaRPr lang="en-US" sz="2000" dirty="0"/>
          </a:p>
          <a:p>
            <a:pPr marL="0" indent="0">
              <a:spcAft>
                <a:spcPts val="1800"/>
              </a:spcAft>
              <a:buNone/>
            </a:pPr>
            <a:r>
              <a:rPr lang="en-US" sz="2000" b="1" dirty="0">
                <a:solidFill>
                  <a:srgbClr val="12263A"/>
                </a:solidFill>
                <a:latin typeface="Calibri" pitchFamily="34" charset="0"/>
                <a:ea typeface="Calibri" pitchFamily="34" charset="-122"/>
                <a:cs typeface="Calibri" pitchFamily="34" charset="-120"/>
              </a:rPr>
              <a:t>Runs from raw data: </a:t>
            </a:r>
            <a:r>
              <a:rPr lang="en-US" sz="2000" dirty="0">
                <a:solidFill>
                  <a:srgbClr val="12263A"/>
                </a:solidFill>
                <a:latin typeface="Calibri" pitchFamily="34" charset="0"/>
                <a:ea typeface="Calibri" pitchFamily="34" charset="-122"/>
                <a:cs typeface="Calibri" pitchFamily="34" charset="-120"/>
              </a:rPr>
              <a:t>one run() call in Google Colab</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7FA"/>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1FB5A3"/>
          </a:solidFill>
          <a:ln w="12700">
            <a:solidFill>
              <a:srgbClr val="1FB5A3"/>
            </a:solidFill>
            <a:prstDash val="solid"/>
          </a:ln>
        </p:spPr>
        <p:txBody>
          <a:bodyPr/>
          <a:lstStyle/>
          <a:p>
            <a:endParaRPr/>
          </a:p>
        </p:txBody>
      </p:sp>
      <p:sp>
        <p:nvSpPr>
          <p:cNvPr id="3" name="Text 1"/>
          <p:cNvSpPr txBox="1"/>
          <p:nvPr/>
        </p:nvSpPr>
        <p:spPr>
          <a:xfrm>
            <a:off x="548640" y="320040"/>
            <a:ext cx="8046720" cy="640080"/>
          </a:xfrm>
          <a:prstGeom prst="rect">
            <a:avLst/>
          </a:prstGeom>
          <a:noFill/>
          <a:ln/>
        </p:spPr>
        <p:txBody>
          <a:bodyPr wrap="square" lIns="0" tIns="0" rIns="0" bIns="0" rtlCol="0" anchor="ctr"/>
          <a:lstStyle/>
          <a:p>
            <a:pPr marL="0" indent="0">
              <a:buNone/>
            </a:pPr>
            <a:r>
              <a:rPr lang="en-US" sz="3000" b="1" dirty="0">
                <a:solidFill>
                  <a:srgbClr val="12263A"/>
                </a:solidFill>
                <a:latin typeface="Calibri" pitchFamily="34" charset="0"/>
                <a:ea typeface="Calibri" pitchFamily="34" charset="-122"/>
                <a:cs typeface="Calibri" pitchFamily="34" charset="-120"/>
              </a:rPr>
              <a:t>What we found</a:t>
            </a:r>
            <a:endParaRPr lang="en-US" sz="3000" dirty="0"/>
          </a:p>
        </p:txBody>
      </p:sp>
      <p:sp>
        <p:nvSpPr>
          <p:cNvPr id="5" name="Shape 2"/>
          <p:cNvSpPr/>
          <p:nvPr/>
        </p:nvSpPr>
        <p:spPr>
          <a:xfrm>
            <a:off x="548640" y="1280160"/>
            <a:ext cx="3931920" cy="1371600"/>
          </a:xfrm>
          <a:prstGeom prst="rect">
            <a:avLst/>
          </a:prstGeom>
          <a:solidFill>
            <a:srgbClr val="FFFFFF"/>
          </a:solidFill>
          <a:ln w="12700">
            <a:solidFill>
              <a:srgbClr val="D5DEE6"/>
            </a:solidFill>
            <a:prstDash val="solid"/>
          </a:ln>
        </p:spPr>
        <p:txBody>
          <a:bodyPr/>
          <a:lstStyle/>
          <a:p>
            <a:endParaRPr/>
          </a:p>
        </p:txBody>
      </p:sp>
      <p:sp>
        <p:nvSpPr>
          <p:cNvPr id="6" name="Text 3"/>
          <p:cNvSpPr txBox="1"/>
          <p:nvPr/>
        </p:nvSpPr>
        <p:spPr>
          <a:xfrm>
            <a:off x="777240" y="1417320"/>
            <a:ext cx="3474720" cy="731520"/>
          </a:xfrm>
          <a:prstGeom prst="rect">
            <a:avLst/>
          </a:prstGeom>
          <a:noFill/>
          <a:ln/>
        </p:spPr>
        <p:txBody>
          <a:bodyPr wrap="square" lIns="0" tIns="0" rIns="0" bIns="0" rtlCol="0" anchor="ctr"/>
          <a:lstStyle/>
          <a:p>
            <a:pPr marL="0" indent="0">
              <a:buNone/>
            </a:pPr>
            <a:r>
              <a:rPr lang="en-US" sz="3200" b="1" dirty="0">
                <a:solidFill>
                  <a:srgbClr val="1FB5A3"/>
                </a:solidFill>
                <a:latin typeface="Calibri" pitchFamily="34" charset="0"/>
                <a:ea typeface="Calibri" pitchFamily="34" charset="-122"/>
                <a:cs typeface="Calibri" pitchFamily="34" charset="-120"/>
              </a:rPr>
              <a:t>9.77 km²</a:t>
            </a:r>
            <a:endParaRPr lang="en-US" sz="3200" dirty="0"/>
          </a:p>
        </p:txBody>
      </p:sp>
      <p:sp>
        <p:nvSpPr>
          <p:cNvPr id="7" name="Text 4"/>
          <p:cNvSpPr txBox="1"/>
          <p:nvPr/>
        </p:nvSpPr>
        <p:spPr>
          <a:xfrm>
            <a:off x="777240" y="2148840"/>
            <a:ext cx="3474720" cy="365760"/>
          </a:xfrm>
          <a:prstGeom prst="rect">
            <a:avLst/>
          </a:prstGeom>
          <a:noFill/>
          <a:ln/>
        </p:spPr>
        <p:txBody>
          <a:bodyPr wrap="square" lIns="0" tIns="0" rIns="0" bIns="0" rtlCol="0" anchor="ctr"/>
          <a:lstStyle/>
          <a:p>
            <a:pPr marL="0" indent="0">
              <a:buNone/>
            </a:pPr>
            <a:r>
              <a:rPr lang="en-US" sz="1500" dirty="0">
                <a:solidFill>
                  <a:srgbClr val="5B6B7A"/>
                </a:solidFill>
                <a:latin typeface="Calibri" pitchFamily="34" charset="0"/>
                <a:ea typeface="Calibri" pitchFamily="34" charset="-122"/>
                <a:cs typeface="Calibri" pitchFamily="34" charset="-120"/>
              </a:rPr>
              <a:t>detected flood area</a:t>
            </a:r>
            <a:endParaRPr lang="en-US" sz="1500" dirty="0"/>
          </a:p>
        </p:txBody>
      </p:sp>
      <p:sp>
        <p:nvSpPr>
          <p:cNvPr id="8" name="Shape 5"/>
          <p:cNvSpPr/>
          <p:nvPr/>
        </p:nvSpPr>
        <p:spPr>
          <a:xfrm>
            <a:off x="4663440" y="1280160"/>
            <a:ext cx="3931920" cy="1371600"/>
          </a:xfrm>
          <a:prstGeom prst="rect">
            <a:avLst/>
          </a:prstGeom>
          <a:solidFill>
            <a:srgbClr val="FFFFFF"/>
          </a:solidFill>
          <a:ln w="12700">
            <a:solidFill>
              <a:srgbClr val="D5DEE6"/>
            </a:solidFill>
            <a:prstDash val="solid"/>
          </a:ln>
        </p:spPr>
        <p:txBody>
          <a:bodyPr/>
          <a:lstStyle/>
          <a:p>
            <a:endParaRPr/>
          </a:p>
        </p:txBody>
      </p:sp>
      <p:sp>
        <p:nvSpPr>
          <p:cNvPr id="9" name="Text 6"/>
          <p:cNvSpPr txBox="1"/>
          <p:nvPr/>
        </p:nvSpPr>
        <p:spPr>
          <a:xfrm>
            <a:off x="4892040" y="1417320"/>
            <a:ext cx="3474720" cy="731520"/>
          </a:xfrm>
          <a:prstGeom prst="rect">
            <a:avLst/>
          </a:prstGeom>
          <a:noFill/>
          <a:ln/>
        </p:spPr>
        <p:txBody>
          <a:bodyPr wrap="square" lIns="0" tIns="0" rIns="0" bIns="0" rtlCol="0" anchor="ctr"/>
          <a:lstStyle/>
          <a:p>
            <a:pPr marL="0" indent="0">
              <a:buNone/>
            </a:pPr>
            <a:r>
              <a:rPr lang="en-US" sz="3200" b="1" dirty="0">
                <a:solidFill>
                  <a:srgbClr val="E5533D"/>
                </a:solidFill>
                <a:latin typeface="Calibri" pitchFamily="34" charset="0"/>
                <a:ea typeface="Calibri" pitchFamily="34" charset="-122"/>
                <a:cs typeface="Calibri" pitchFamily="34" charset="-120"/>
              </a:rPr>
              <a:t>1,796 / 39,477</a:t>
            </a:r>
            <a:endParaRPr lang="en-US" sz="3200" dirty="0"/>
          </a:p>
        </p:txBody>
      </p:sp>
      <p:sp>
        <p:nvSpPr>
          <p:cNvPr id="10" name="Text 7"/>
          <p:cNvSpPr txBox="1"/>
          <p:nvPr/>
        </p:nvSpPr>
        <p:spPr>
          <a:xfrm>
            <a:off x="4892040" y="2148840"/>
            <a:ext cx="3474720" cy="365760"/>
          </a:xfrm>
          <a:prstGeom prst="rect">
            <a:avLst/>
          </a:prstGeom>
          <a:noFill/>
          <a:ln/>
        </p:spPr>
        <p:txBody>
          <a:bodyPr wrap="square" lIns="0" tIns="0" rIns="0" bIns="0" rtlCol="0" anchor="ctr"/>
          <a:lstStyle/>
          <a:p>
            <a:pPr marL="0" indent="0">
              <a:buNone/>
            </a:pPr>
            <a:r>
              <a:rPr lang="en-US" sz="1500" dirty="0">
                <a:solidFill>
                  <a:srgbClr val="5B6B7A"/>
                </a:solidFill>
                <a:latin typeface="Calibri" pitchFamily="34" charset="0"/>
                <a:ea typeface="Calibri" pitchFamily="34" charset="-122"/>
                <a:cs typeface="Calibri" pitchFamily="34" charset="-120"/>
              </a:rPr>
              <a:t>OSM buildings in mask (+820 within 30 m)</a:t>
            </a:r>
            <a:endParaRPr lang="en-US" sz="1500" dirty="0"/>
          </a:p>
        </p:txBody>
      </p:sp>
      <p:sp>
        <p:nvSpPr>
          <p:cNvPr id="11" name="Shape 8"/>
          <p:cNvSpPr/>
          <p:nvPr/>
        </p:nvSpPr>
        <p:spPr>
          <a:xfrm>
            <a:off x="548640" y="2834640"/>
            <a:ext cx="3931920" cy="1371600"/>
          </a:xfrm>
          <a:prstGeom prst="rect">
            <a:avLst/>
          </a:prstGeom>
          <a:solidFill>
            <a:srgbClr val="FFFFFF"/>
          </a:solidFill>
          <a:ln w="12700">
            <a:solidFill>
              <a:srgbClr val="D5DEE6"/>
            </a:solidFill>
            <a:prstDash val="solid"/>
          </a:ln>
        </p:spPr>
        <p:txBody>
          <a:bodyPr/>
          <a:lstStyle/>
          <a:p>
            <a:endParaRPr/>
          </a:p>
        </p:txBody>
      </p:sp>
      <p:sp>
        <p:nvSpPr>
          <p:cNvPr id="12" name="Text 9"/>
          <p:cNvSpPr txBox="1"/>
          <p:nvPr/>
        </p:nvSpPr>
        <p:spPr>
          <a:xfrm>
            <a:off x="777240" y="2971800"/>
            <a:ext cx="3474720" cy="731520"/>
          </a:xfrm>
          <a:prstGeom prst="rect">
            <a:avLst/>
          </a:prstGeom>
          <a:noFill/>
          <a:ln/>
        </p:spPr>
        <p:txBody>
          <a:bodyPr wrap="square" lIns="0" tIns="0" rIns="0" bIns="0" rtlCol="0" anchor="ctr"/>
          <a:lstStyle/>
          <a:p>
            <a:pPr marL="0" indent="0">
              <a:buNone/>
            </a:pPr>
            <a:r>
              <a:rPr lang="en-US" sz="3200" b="1" dirty="0">
                <a:solidFill>
                  <a:srgbClr val="E5533D"/>
                </a:solidFill>
                <a:latin typeface="Calibri" pitchFamily="34" charset="0"/>
                <a:ea typeface="Calibri" pitchFamily="34" charset="-122"/>
                <a:cs typeface="Calibri" pitchFamily="34" charset="-120"/>
              </a:rPr>
              <a:t>35.5 / 4,155 km</a:t>
            </a:r>
            <a:endParaRPr lang="en-US" sz="3200" dirty="0"/>
          </a:p>
        </p:txBody>
      </p:sp>
      <p:sp>
        <p:nvSpPr>
          <p:cNvPr id="13" name="Text 10"/>
          <p:cNvSpPr txBox="1"/>
          <p:nvPr/>
        </p:nvSpPr>
        <p:spPr>
          <a:xfrm>
            <a:off x="777240" y="3703320"/>
            <a:ext cx="3474720" cy="365760"/>
          </a:xfrm>
          <a:prstGeom prst="rect">
            <a:avLst/>
          </a:prstGeom>
          <a:noFill/>
          <a:ln/>
        </p:spPr>
        <p:txBody>
          <a:bodyPr wrap="square" lIns="0" tIns="0" rIns="0" bIns="0" rtlCol="0" anchor="ctr"/>
          <a:lstStyle/>
          <a:p>
            <a:pPr marL="0" indent="0">
              <a:buNone/>
            </a:pPr>
            <a:r>
              <a:rPr lang="en-US" sz="1500" dirty="0">
                <a:solidFill>
                  <a:srgbClr val="5B6B7A"/>
                </a:solidFill>
                <a:latin typeface="Calibri" pitchFamily="34" charset="0"/>
                <a:ea typeface="Calibri" pitchFamily="34" charset="-122"/>
                <a:cs typeface="Calibri" pitchFamily="34" charset="-120"/>
              </a:rPr>
              <a:t>road in mask</a:t>
            </a:r>
            <a:endParaRPr lang="en-US" sz="1500" dirty="0"/>
          </a:p>
        </p:txBody>
      </p:sp>
      <p:sp>
        <p:nvSpPr>
          <p:cNvPr id="14" name="Shape 11"/>
          <p:cNvSpPr/>
          <p:nvPr/>
        </p:nvSpPr>
        <p:spPr>
          <a:xfrm>
            <a:off x="4663440" y="2834640"/>
            <a:ext cx="3931920" cy="1371600"/>
          </a:xfrm>
          <a:prstGeom prst="rect">
            <a:avLst/>
          </a:prstGeom>
          <a:solidFill>
            <a:srgbClr val="FFFFFF"/>
          </a:solidFill>
          <a:ln w="12700">
            <a:solidFill>
              <a:srgbClr val="D5DEE6"/>
            </a:solidFill>
            <a:prstDash val="solid"/>
          </a:ln>
        </p:spPr>
        <p:txBody>
          <a:bodyPr/>
          <a:lstStyle/>
          <a:p>
            <a:endParaRPr/>
          </a:p>
        </p:txBody>
      </p:sp>
      <p:sp>
        <p:nvSpPr>
          <p:cNvPr id="15" name="Text 12"/>
          <p:cNvSpPr txBox="1"/>
          <p:nvPr/>
        </p:nvSpPr>
        <p:spPr>
          <a:xfrm>
            <a:off x="4892040" y="2971800"/>
            <a:ext cx="3474720" cy="731520"/>
          </a:xfrm>
          <a:prstGeom prst="rect">
            <a:avLst/>
          </a:prstGeom>
          <a:noFill/>
          <a:ln/>
        </p:spPr>
        <p:txBody>
          <a:bodyPr wrap="square" lIns="0" tIns="0" rIns="0" bIns="0" rtlCol="0" anchor="ctr"/>
          <a:lstStyle/>
          <a:p>
            <a:pPr marL="0" indent="0">
              <a:buNone/>
            </a:pPr>
            <a:r>
              <a:rPr lang="en-US" sz="3200" b="1" dirty="0">
                <a:solidFill>
                  <a:srgbClr val="E5533D"/>
                </a:solidFill>
                <a:latin typeface="Calibri" pitchFamily="34" charset="0"/>
                <a:ea typeface="Calibri" pitchFamily="34" charset="-122"/>
                <a:cs typeface="Calibri" pitchFamily="34" charset="-120"/>
              </a:rPr>
              <a:t>15 / 149</a:t>
            </a:r>
            <a:endParaRPr lang="en-US" sz="3200" dirty="0"/>
          </a:p>
        </p:txBody>
      </p:sp>
      <p:sp>
        <p:nvSpPr>
          <p:cNvPr id="16" name="Text 13"/>
          <p:cNvSpPr txBox="1"/>
          <p:nvPr/>
        </p:nvSpPr>
        <p:spPr>
          <a:xfrm>
            <a:off x="4892040" y="3703320"/>
            <a:ext cx="3474720" cy="365760"/>
          </a:xfrm>
          <a:prstGeom prst="rect">
            <a:avLst/>
          </a:prstGeom>
          <a:noFill/>
          <a:ln/>
        </p:spPr>
        <p:txBody>
          <a:bodyPr wrap="square" lIns="0" tIns="0" rIns="0" bIns="0" rtlCol="0" anchor="ctr"/>
          <a:lstStyle/>
          <a:p>
            <a:pPr marL="0" indent="0">
              <a:buNone/>
            </a:pPr>
            <a:r>
              <a:rPr lang="en-US" sz="1500" dirty="0">
                <a:solidFill>
                  <a:srgbClr val="5B6B7A"/>
                </a:solidFill>
                <a:latin typeface="Calibri" pitchFamily="34" charset="0"/>
                <a:ea typeface="Calibri" pitchFamily="34" charset="-122"/>
                <a:cs typeface="Calibri" pitchFamily="34" charset="-120"/>
              </a:rPr>
              <a:t>bridges in mask</a:t>
            </a:r>
            <a:endParaRPr lang="en-US" sz="1500" dirty="0"/>
          </a:p>
        </p:txBody>
      </p:sp>
      <p:sp>
        <p:nvSpPr>
          <p:cNvPr id="17" name="Text 14"/>
          <p:cNvSpPr txBox="1"/>
          <p:nvPr/>
        </p:nvSpPr>
        <p:spPr>
          <a:xfrm>
            <a:off x="548640" y="4480560"/>
            <a:ext cx="8046720" cy="365760"/>
          </a:xfrm>
          <a:prstGeom prst="rect">
            <a:avLst/>
          </a:prstGeom>
          <a:noFill/>
          <a:ln/>
        </p:spPr>
        <p:txBody>
          <a:bodyPr wrap="square" lIns="0" tIns="0" rIns="0" bIns="0" rtlCol="0" anchor="ctr"/>
          <a:lstStyle/>
          <a:p>
            <a:pPr marL="0" indent="0">
              <a:buNone/>
            </a:pPr>
            <a:r>
              <a:rPr lang="en-US" sz="1300" i="1" dirty="0">
                <a:solidFill>
                  <a:srgbClr val="5B6B7A"/>
                </a:solidFill>
                <a:latin typeface="Calibri" pitchFamily="34" charset="0"/>
                <a:ea typeface="Calibri" pitchFamily="34" charset="-122"/>
                <a:cs typeface="Calibri" pitchFamily="34" charset="-120"/>
              </a:rPr>
              <a:t>Mask: 8.45 km² debris + 1.32 km² water. Radar-only area: 1.6 km² (4 dB) to 29.1 km² (2 dB).</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7FA"/>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1FB5A3"/>
          </a:solidFill>
          <a:ln w="12700">
            <a:solidFill>
              <a:srgbClr val="1FB5A3"/>
            </a:solidFill>
            <a:prstDash val="solid"/>
          </a:ln>
        </p:spPr>
        <p:txBody>
          <a:bodyPr/>
          <a:lstStyle/>
          <a:p>
            <a:endParaRPr/>
          </a:p>
        </p:txBody>
      </p:sp>
      <p:sp>
        <p:nvSpPr>
          <p:cNvPr id="3" name="Text 1"/>
          <p:cNvSpPr txBox="1"/>
          <p:nvPr/>
        </p:nvSpPr>
        <p:spPr>
          <a:xfrm>
            <a:off x="548640" y="320040"/>
            <a:ext cx="8046720" cy="640080"/>
          </a:xfrm>
          <a:prstGeom prst="rect">
            <a:avLst/>
          </a:prstGeom>
          <a:noFill/>
          <a:ln/>
        </p:spPr>
        <p:txBody>
          <a:bodyPr wrap="square" lIns="0" tIns="0" rIns="0" bIns="0" rtlCol="0" anchor="ctr"/>
          <a:lstStyle/>
          <a:p>
            <a:pPr marL="0" indent="0">
              <a:buNone/>
            </a:pPr>
            <a:r>
              <a:rPr lang="en-US" sz="3000" b="1" dirty="0">
                <a:solidFill>
                  <a:srgbClr val="12263A"/>
                </a:solidFill>
                <a:latin typeface="Calibri" pitchFamily="34" charset="0"/>
                <a:ea typeface="Calibri" pitchFamily="34" charset="-122"/>
                <a:cs typeface="Calibri" pitchFamily="34" charset="-120"/>
              </a:rPr>
              <a:t>Who is cut off?</a:t>
            </a:r>
            <a:endParaRPr lang="en-US" sz="3000" dirty="0"/>
          </a:p>
        </p:txBody>
      </p:sp>
      <p:sp>
        <p:nvSpPr>
          <p:cNvPr id="5" name="Shape 2"/>
          <p:cNvSpPr/>
          <p:nvPr/>
        </p:nvSpPr>
        <p:spPr>
          <a:xfrm>
            <a:off x="548640" y="1280160"/>
            <a:ext cx="2606040" cy="1554480"/>
          </a:xfrm>
          <a:prstGeom prst="rect">
            <a:avLst/>
          </a:prstGeom>
          <a:solidFill>
            <a:srgbClr val="FFFFFF"/>
          </a:solidFill>
          <a:ln w="12700">
            <a:solidFill>
              <a:srgbClr val="D5DEE6"/>
            </a:solidFill>
            <a:prstDash val="solid"/>
          </a:ln>
        </p:spPr>
        <p:txBody>
          <a:bodyPr/>
          <a:lstStyle/>
          <a:p>
            <a:endParaRPr/>
          </a:p>
        </p:txBody>
      </p:sp>
      <p:sp>
        <p:nvSpPr>
          <p:cNvPr id="6" name="Text 3"/>
          <p:cNvSpPr txBox="1"/>
          <p:nvPr/>
        </p:nvSpPr>
        <p:spPr>
          <a:xfrm>
            <a:off x="731520" y="1417320"/>
            <a:ext cx="2240280" cy="731520"/>
          </a:xfrm>
          <a:prstGeom prst="rect">
            <a:avLst/>
          </a:prstGeom>
          <a:noFill/>
          <a:ln/>
        </p:spPr>
        <p:txBody>
          <a:bodyPr wrap="square" lIns="0" tIns="0" rIns="0" bIns="0" rtlCol="0" anchor="ctr"/>
          <a:lstStyle/>
          <a:p>
            <a:pPr marL="0" indent="0">
              <a:buNone/>
            </a:pPr>
            <a:r>
              <a:rPr lang="en-US" sz="3400" b="1" dirty="0">
                <a:solidFill>
                  <a:srgbClr val="E5533D"/>
                </a:solidFill>
                <a:latin typeface="Calibri" pitchFamily="34" charset="0"/>
                <a:ea typeface="Calibri" pitchFamily="34" charset="-122"/>
                <a:cs typeface="Calibri" pitchFamily="34" charset="-120"/>
              </a:rPr>
              <a:t>27</a:t>
            </a:r>
            <a:endParaRPr lang="en-US" sz="3400" dirty="0"/>
          </a:p>
        </p:txBody>
      </p:sp>
      <p:sp>
        <p:nvSpPr>
          <p:cNvPr id="7" name="Text 4"/>
          <p:cNvSpPr txBox="1"/>
          <p:nvPr/>
        </p:nvSpPr>
        <p:spPr>
          <a:xfrm>
            <a:off x="731520" y="2148840"/>
            <a:ext cx="2240280" cy="548640"/>
          </a:xfrm>
          <a:prstGeom prst="rect">
            <a:avLst/>
          </a:prstGeom>
          <a:noFill/>
          <a:ln/>
        </p:spPr>
        <p:txBody>
          <a:bodyPr wrap="square" lIns="0" tIns="0" rIns="0" bIns="0" rtlCol="0" anchor="t"/>
          <a:lstStyle/>
          <a:p>
            <a:pPr marL="0" indent="0">
              <a:buNone/>
            </a:pPr>
            <a:r>
              <a:rPr lang="en-US" sz="1400" dirty="0">
                <a:solidFill>
                  <a:srgbClr val="12263A"/>
                </a:solidFill>
                <a:latin typeface="Calibri" pitchFamily="34" charset="0"/>
                <a:ea typeface="Calibri" pitchFamily="34" charset="-122"/>
                <a:cs typeface="Calibri" pitchFamily="34" charset="-120"/>
              </a:rPr>
              <a:t>settlements possibly cut off from hospital</a:t>
            </a:r>
            <a:endParaRPr lang="en-US" sz="1400" dirty="0"/>
          </a:p>
        </p:txBody>
      </p:sp>
      <p:sp>
        <p:nvSpPr>
          <p:cNvPr id="8" name="Shape 5"/>
          <p:cNvSpPr/>
          <p:nvPr/>
        </p:nvSpPr>
        <p:spPr>
          <a:xfrm>
            <a:off x="3337560" y="1280160"/>
            <a:ext cx="2606040" cy="1554480"/>
          </a:xfrm>
          <a:prstGeom prst="rect">
            <a:avLst/>
          </a:prstGeom>
          <a:solidFill>
            <a:srgbClr val="FFFFFF"/>
          </a:solidFill>
          <a:ln w="12700">
            <a:solidFill>
              <a:srgbClr val="D5DEE6"/>
            </a:solidFill>
            <a:prstDash val="solid"/>
          </a:ln>
        </p:spPr>
        <p:txBody>
          <a:bodyPr/>
          <a:lstStyle/>
          <a:p>
            <a:endParaRPr/>
          </a:p>
        </p:txBody>
      </p:sp>
      <p:sp>
        <p:nvSpPr>
          <p:cNvPr id="9" name="Text 6"/>
          <p:cNvSpPr txBox="1"/>
          <p:nvPr/>
        </p:nvSpPr>
        <p:spPr>
          <a:xfrm>
            <a:off x="3520440" y="1417320"/>
            <a:ext cx="2240280" cy="731520"/>
          </a:xfrm>
          <a:prstGeom prst="rect">
            <a:avLst/>
          </a:prstGeom>
          <a:noFill/>
          <a:ln/>
        </p:spPr>
        <p:txBody>
          <a:bodyPr wrap="square" lIns="0" tIns="0" rIns="0" bIns="0" rtlCol="0" anchor="ctr"/>
          <a:lstStyle/>
          <a:p>
            <a:pPr marL="0" indent="0">
              <a:buNone/>
            </a:pPr>
            <a:r>
              <a:rPr lang="en-US" sz="3400" b="1" dirty="0">
                <a:solidFill>
                  <a:srgbClr val="1FB5A3"/>
                </a:solidFill>
                <a:latin typeface="Calibri" pitchFamily="34" charset="0"/>
                <a:ea typeface="Calibri" pitchFamily="34" charset="-122"/>
                <a:cs typeface="Calibri" pitchFamily="34" charset="-120"/>
              </a:rPr>
              <a:t>243 of 380</a:t>
            </a:r>
            <a:endParaRPr lang="en-US" sz="3400" dirty="0"/>
          </a:p>
        </p:txBody>
      </p:sp>
      <p:sp>
        <p:nvSpPr>
          <p:cNvPr id="10" name="Text 7"/>
          <p:cNvSpPr txBox="1"/>
          <p:nvPr/>
        </p:nvSpPr>
        <p:spPr>
          <a:xfrm>
            <a:off x="3520440" y="2148840"/>
            <a:ext cx="2240280" cy="548640"/>
          </a:xfrm>
          <a:prstGeom prst="rect">
            <a:avLst/>
          </a:prstGeom>
          <a:noFill/>
          <a:ln/>
        </p:spPr>
        <p:txBody>
          <a:bodyPr wrap="square" lIns="0" tIns="0" rIns="0" bIns="0" rtlCol="0" anchor="t"/>
          <a:lstStyle/>
          <a:p>
            <a:pPr marL="0" indent="0">
              <a:buNone/>
            </a:pPr>
            <a:r>
              <a:rPr lang="en-US" sz="1400" dirty="0">
                <a:solidFill>
                  <a:srgbClr val="12263A"/>
                </a:solidFill>
                <a:latin typeface="Calibri" pitchFamily="34" charset="0"/>
                <a:ea typeface="Calibri" pitchFamily="34" charset="-122"/>
                <a:cs typeface="Calibri" pitchFamily="34" charset="-120"/>
              </a:rPr>
              <a:t>settlements analysed</a:t>
            </a:r>
            <a:endParaRPr lang="en-US" sz="1400" dirty="0"/>
          </a:p>
        </p:txBody>
      </p:sp>
      <p:sp>
        <p:nvSpPr>
          <p:cNvPr id="11" name="Shape 8"/>
          <p:cNvSpPr/>
          <p:nvPr/>
        </p:nvSpPr>
        <p:spPr>
          <a:xfrm>
            <a:off x="6126480" y="1280160"/>
            <a:ext cx="2606040" cy="1554480"/>
          </a:xfrm>
          <a:prstGeom prst="rect">
            <a:avLst/>
          </a:prstGeom>
          <a:solidFill>
            <a:srgbClr val="FFFFFF"/>
          </a:solidFill>
          <a:ln w="12700">
            <a:solidFill>
              <a:srgbClr val="D5DEE6"/>
            </a:solidFill>
            <a:prstDash val="solid"/>
          </a:ln>
        </p:spPr>
        <p:txBody>
          <a:bodyPr/>
          <a:lstStyle/>
          <a:p>
            <a:endParaRPr/>
          </a:p>
        </p:txBody>
      </p:sp>
      <p:sp>
        <p:nvSpPr>
          <p:cNvPr id="12" name="Text 9"/>
          <p:cNvSpPr txBox="1"/>
          <p:nvPr/>
        </p:nvSpPr>
        <p:spPr>
          <a:xfrm>
            <a:off x="6309360" y="1417320"/>
            <a:ext cx="2240280" cy="731520"/>
          </a:xfrm>
          <a:prstGeom prst="rect">
            <a:avLst/>
          </a:prstGeom>
          <a:noFill/>
          <a:ln/>
        </p:spPr>
        <p:txBody>
          <a:bodyPr wrap="square" lIns="0" tIns="0" rIns="0" bIns="0" rtlCol="0" anchor="ctr"/>
          <a:lstStyle/>
          <a:p>
            <a:pPr marL="0" indent="0">
              <a:buNone/>
            </a:pPr>
            <a:r>
              <a:rPr lang="en-US" sz="3400" b="1" dirty="0">
                <a:solidFill>
                  <a:srgbClr val="5B6B7A"/>
                </a:solidFill>
                <a:latin typeface="Calibri" pitchFamily="34" charset="0"/>
                <a:ea typeface="Calibri" pitchFamily="34" charset="-122"/>
                <a:cs typeface="Calibri" pitchFamily="34" charset="-120"/>
              </a:rPr>
              <a:t>96</a:t>
            </a:r>
            <a:endParaRPr lang="en-US" sz="3400" dirty="0"/>
          </a:p>
        </p:txBody>
      </p:sp>
      <p:sp>
        <p:nvSpPr>
          <p:cNvPr id="13" name="Text 10"/>
          <p:cNvSpPr txBox="1"/>
          <p:nvPr/>
        </p:nvSpPr>
        <p:spPr>
          <a:xfrm>
            <a:off x="6309360" y="2148840"/>
            <a:ext cx="2240280" cy="548640"/>
          </a:xfrm>
          <a:prstGeom prst="rect">
            <a:avLst/>
          </a:prstGeom>
          <a:noFill/>
          <a:ln/>
        </p:spPr>
        <p:txBody>
          <a:bodyPr wrap="square" lIns="0" tIns="0" rIns="0" bIns="0" rtlCol="0" anchor="t"/>
          <a:lstStyle/>
          <a:p>
            <a:pPr marL="0" indent="0">
              <a:buNone/>
            </a:pPr>
            <a:r>
              <a:rPr lang="en-US" sz="1400" dirty="0">
                <a:solidFill>
                  <a:srgbClr val="12263A"/>
                </a:solidFill>
                <a:latin typeface="Calibri" pitchFamily="34" charset="0"/>
                <a:ea typeface="Calibri" pitchFamily="34" charset="-122"/>
                <a:cs typeface="Calibri" pitchFamily="34" charset="-120"/>
              </a:rPr>
              <a:t>no road within 500 m: not assessed</a:t>
            </a:r>
            <a:endParaRPr lang="en-US" sz="1400" dirty="0"/>
          </a:p>
        </p:txBody>
      </p:sp>
      <p:sp>
        <p:nvSpPr>
          <p:cNvPr id="14" name="Text 11"/>
          <p:cNvSpPr txBox="1"/>
          <p:nvPr/>
        </p:nvSpPr>
        <p:spPr>
          <a:xfrm>
            <a:off x="548640" y="3200400"/>
            <a:ext cx="8046720" cy="1097280"/>
          </a:xfrm>
          <a:prstGeom prst="rect">
            <a:avLst/>
          </a:prstGeom>
          <a:noFill/>
          <a:ln/>
        </p:spPr>
        <p:txBody>
          <a:bodyPr wrap="square" lIns="0" tIns="0" rIns="0" bIns="0" rtlCol="0" anchor="t"/>
          <a:lstStyle/>
          <a:p>
            <a:pPr marL="0" indent="0">
              <a:spcAft>
                <a:spcPts val="1000"/>
              </a:spcAft>
              <a:buNone/>
            </a:pPr>
            <a:r>
              <a:rPr lang="en-US" sz="1600" dirty="0">
                <a:solidFill>
                  <a:srgbClr val="12263A"/>
                </a:solidFill>
                <a:latin typeface="Calibri" pitchFamily="34" charset="0"/>
                <a:ea typeface="Calibri" pitchFamily="34" charset="-122"/>
                <a:cs typeface="Calibri" pitchFamily="34" charset="-120"/>
              </a:rPr>
              <a:t>Flood path: 12 settlements listed along the valley, up to ~48 km downstream.</a:t>
            </a:r>
            <a:endParaRPr lang="en-US" sz="1600" dirty="0"/>
          </a:p>
          <a:p>
            <a:pPr marL="0" indent="0">
              <a:spcAft>
                <a:spcPts val="1000"/>
              </a:spcAft>
              <a:buNone/>
            </a:pPr>
            <a:r>
              <a:rPr lang="en-US" sz="1600" dirty="0">
                <a:solidFill>
                  <a:srgbClr val="12263A"/>
                </a:solidFill>
                <a:latin typeface="Calibri" pitchFamily="34" charset="0"/>
                <a:ea typeface="Calibri" pitchFamily="34" charset="-122"/>
                <a:cs typeface="Calibri" pitchFamily="34" charset="-120"/>
              </a:rPr>
              <a:t>27 Nepal-side settlements also lose the route to the nearest town. 25 cross-border settlements (Chinese-script names) are listed separately. Candidates only: one flagged road segment can cut a whole branch.</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7FA"/>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1FB5A3"/>
          </a:solidFill>
          <a:ln w="12700">
            <a:solidFill>
              <a:srgbClr val="1FB5A3"/>
            </a:solidFill>
            <a:prstDash val="solid"/>
          </a:ln>
        </p:spPr>
      </p:sp>
      <p:sp>
        <p:nvSpPr>
          <p:cNvPr id="3" name="Text 1"/>
          <p:cNvSpPr txBox="1"/>
          <p:nvPr/>
        </p:nvSpPr>
        <p:spPr>
          <a:xfrm>
            <a:off x="548640" y="320040"/>
            <a:ext cx="8046720" cy="640080"/>
          </a:xfrm>
          <a:prstGeom prst="rect">
            <a:avLst/>
          </a:prstGeom>
          <a:noFill/>
          <a:ln/>
        </p:spPr>
        <p:txBody>
          <a:bodyPr wrap="square" lIns="0" tIns="0" rIns="0" bIns="0" rtlCol="0" anchor="ctr"/>
          <a:lstStyle/>
          <a:p>
            <a:pPr marL="0" indent="0">
              <a:buNone/>
            </a:pPr>
            <a:r>
              <a:rPr lang="en-US" sz="3000" b="1" dirty="0">
                <a:solidFill>
                  <a:srgbClr val="12263A"/>
                </a:solidFill>
                <a:latin typeface="Calibri" pitchFamily="34" charset="0"/>
                <a:ea typeface="Calibri" pitchFamily="34" charset="-122"/>
                <a:cs typeface="Calibri" pitchFamily="34" charset="-120"/>
              </a:rPr>
              <a:t>See it on the map</a:t>
            </a:r>
            <a:endParaRPr lang="en-US" sz="3000" dirty="0"/>
          </a:p>
        </p:txBody>
      </p:sp>
      <p:pic>
        <p:nvPicPr>
          <p:cNvPr id="20" name="Dashboard map" descr="FloodWatch dashboard map of the Trishuli valley: flood mask, damaged assets, settlements coloured by hospital access, and the traced flood path"/>
          <p:cNvPicPr>
            <a:picLocks noChangeAspect="1"/>
          </p:cNvPicPr>
          <p:nvPr/>
        </p:nvPicPr>
        <p:blipFill>
          <a:blip r:embed="rId3"/>
          <a:stretch>
            <a:fillRect/>
          </a:stretch>
        </p:blipFill>
        <p:spPr>
          <a:xfrm>
            <a:off x="548640" y="1234440"/>
            <a:ext cx="5394960" cy="2811780"/>
          </a:xfrm>
          <a:prstGeom prst="rect">
            <a:avLst/>
          </a:prstGeom>
          <a:ln w="12700">
            <a:solidFill>
              <a:srgbClr val="D5DEE6"/>
            </a:solidFill>
          </a:ln>
        </p:spPr>
      </p:pic>
      <p:sp>
        <p:nvSpPr>
          <p:cNvPr id="21" name="Map key"/>
          <p:cNvSpPr txBox="1"/>
          <p:nvPr/>
        </p:nvSpPr>
        <p:spPr>
          <a:xfrm>
            <a:off x="6217920" y="1234440"/>
            <a:ext cx="2377440" cy="2811780"/>
          </a:xfrm>
          <a:prstGeom prst="rect">
            <a:avLst/>
          </a:prstGeom>
          <a:noFill/>
          <a:ln/>
        </p:spPr>
        <p:txBody>
          <a:bodyPr wrap="square" lIns="0" tIns="0" rIns="0" bIns="0" rtlCol="0" anchor="t"/>
          <a:lstStyle/>
          <a:p>
            <a:pPr marL="0" indent="0">
              <a:spcAft>
                <a:spcPts val="1400"/>
              </a:spcAft>
              <a:buNone/>
            </a:pPr>
            <a:r>
              <a:rPr lang="en-US" sz="1400" b="1" dirty="0">
                <a:solidFill>
                  <a:srgbClr val="E5533D"/>
                </a:solidFill>
                <a:latin typeface="Calibri" pitchFamily="34" charset="0"/>
                <a:ea typeface="Calibri" pitchFamily="34" charset="-122"/>
                <a:cs typeface="Calibri" pitchFamily="34" charset="-120"/>
              </a:rPr>
              <a:t>Red markers </a:t>
            </a:r>
            <a:r>
              <a:rPr lang="en-US" sz="1400" dirty="0">
                <a:solidFill>
                  <a:srgbClr val="12263A"/>
                </a:solidFill>
                <a:latin typeface="Calibri" pitchFamily="34" charset="0"/>
                <a:ea typeface="Calibri" pitchFamily="34" charset="-122"/>
                <a:cs typeface="Calibri" pitchFamily="34" charset="-120"/>
              </a:rPr>
              <a:t>settlements whose road link to a hospital is lost</a:t>
            </a:r>
          </a:p>
          <a:p>
            <a:pPr marL="0" indent="0">
              <a:spcAft>
                <a:spcPts val="1400"/>
              </a:spcAft>
              <a:buNone/>
            </a:pPr>
            <a:r>
              <a:rPr lang="en-US" sz="1400" b="1" dirty="0">
                <a:solidFill>
                  <a:srgbClr val="1FB5A3"/>
                </a:solidFill>
                <a:latin typeface="Calibri" pitchFamily="34" charset="0"/>
                <a:ea typeface="Calibri" pitchFamily="34" charset="-122"/>
                <a:cs typeface="Calibri" pitchFamily="34" charset="-120"/>
              </a:rPr>
              <a:t>Cyan line </a:t>
            </a:r>
            <a:r>
              <a:rPr lang="en-US" sz="1400" dirty="0">
                <a:solidFill>
                  <a:srgbClr val="12263A"/>
                </a:solidFill>
                <a:latin typeface="Calibri" pitchFamily="34" charset="0"/>
                <a:ea typeface="Calibri" pitchFamily="34" charset="-122"/>
                <a:cs typeface="Calibri" pitchFamily="34" charset="-120"/>
              </a:rPr>
              <a:t>flood path traced down the valley from the DEM</a:t>
            </a:r>
          </a:p>
          <a:p>
            <a:pPr marL="0" indent="0">
              <a:spcAft>
                <a:spcPts val="0"/>
              </a:spcAft>
              <a:buNone/>
            </a:pPr>
            <a:r>
              <a:rPr lang="en-US" sz="1400" b="1" dirty="0">
                <a:solidFill>
                  <a:srgbClr val="5B6B7A"/>
                </a:solidFill>
                <a:latin typeface="Calibri" pitchFamily="34" charset="0"/>
                <a:ea typeface="Calibri" pitchFamily="34" charset="-122"/>
                <a:cs typeface="Calibri" pitchFamily="34" charset="-120"/>
              </a:rPr>
              <a:t>Grey </a:t>
            </a:r>
            <a:r>
              <a:rPr lang="en-US" sz="1400" dirty="0">
                <a:solidFill>
                  <a:srgbClr val="12263A"/>
                </a:solidFill>
                <a:latin typeface="Calibri" pitchFamily="34" charset="0"/>
                <a:ea typeface="Calibri" pitchFamily="34" charset="-122"/>
                <a:cs typeface="Calibri" pitchFamily="34" charset="-120"/>
              </a:rPr>
              <a:t>no road data nearby, so not assessed</a:t>
            </a:r>
          </a:p>
        </p:txBody>
      </p:sp>
      <p:sp>
        <p:nvSpPr>
          <p:cNvPr id="22" name="Caption"/>
          <p:cNvSpPr txBox="1"/>
          <p:nvPr/>
        </p:nvSpPr>
        <p:spPr>
          <a:xfrm>
            <a:off x="548640" y="4183380"/>
            <a:ext cx="8046720" cy="365760"/>
          </a:xfrm>
          <a:prstGeom prst="rect">
            <a:avLst/>
          </a:prstGeom>
          <a:noFill/>
          <a:ln/>
        </p:spPr>
        <p:txBody>
          <a:bodyPr wrap="square" lIns="0" tIns="0" rIns="0" bIns="0" rtlCol="0" anchor="t"/>
          <a:lstStyle/>
          <a:p>
            <a:pPr marL="0" indent="0">
              <a:spcAft>
                <a:spcPts val="0"/>
              </a:spcAft>
              <a:buNone/>
            </a:pPr>
            <a:r>
              <a:rPr lang="en-US" sz="1200" i="1" dirty="0">
                <a:solidFill>
                  <a:srgbClr val="5B6B7A"/>
                </a:solidFill>
                <a:latin typeface="Calibri" pitchFamily="34" charset="0"/>
                <a:ea typeface="Calibri" pitchFamily="34" charset="-122"/>
                <a:cs typeface="Calibri" pitchFamily="34" charset="-120"/>
              </a:rPr>
              <a:t>Screenshot of dashboard.html. Layers toggle for the flood mask, hit buildings, roads and bridges, settlements and hospitals.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3F7FA"/>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1FB5A3"/>
          </a:solidFill>
          <a:ln w="12700">
            <a:solidFill>
              <a:srgbClr val="1FB5A3"/>
            </a:solidFill>
            <a:prstDash val="solid"/>
          </a:ln>
        </p:spPr>
        <p:txBody>
          <a:bodyPr/>
          <a:lstStyle/>
          <a:p>
            <a:endParaRPr/>
          </a:p>
        </p:txBody>
      </p:sp>
      <p:sp>
        <p:nvSpPr>
          <p:cNvPr id="3" name="Text 1"/>
          <p:cNvSpPr txBox="1"/>
          <p:nvPr/>
        </p:nvSpPr>
        <p:spPr>
          <a:xfrm>
            <a:off x="548640" y="320040"/>
            <a:ext cx="8046720" cy="640080"/>
          </a:xfrm>
          <a:prstGeom prst="rect">
            <a:avLst/>
          </a:prstGeom>
          <a:noFill/>
          <a:ln/>
        </p:spPr>
        <p:txBody>
          <a:bodyPr wrap="square" lIns="0" tIns="0" rIns="0" bIns="0" rtlCol="0" anchor="ctr"/>
          <a:lstStyle/>
          <a:p>
            <a:pPr marL="0" indent="0">
              <a:buNone/>
            </a:pPr>
            <a:r>
              <a:rPr lang="en-US" sz="3000" b="1" dirty="0">
                <a:solidFill>
                  <a:srgbClr val="12263A"/>
                </a:solidFill>
                <a:latin typeface="Calibri" pitchFamily="34" charset="0"/>
                <a:ea typeface="Calibri" pitchFamily="34" charset="-122"/>
                <a:cs typeface="Calibri" pitchFamily="34" charset="-120"/>
              </a:rPr>
              <a:t>An AI copilot that cannot invent numbers</a:t>
            </a:r>
            <a:endParaRPr lang="en-US" sz="3000" dirty="0"/>
          </a:p>
        </p:txBody>
      </p:sp>
      <p:sp>
        <p:nvSpPr>
          <p:cNvPr id="5" name="Shape 2"/>
          <p:cNvSpPr/>
          <p:nvPr/>
        </p:nvSpPr>
        <p:spPr>
          <a:xfrm>
            <a:off x="548640" y="1554480"/>
            <a:ext cx="1874520" cy="1371600"/>
          </a:xfrm>
          <a:prstGeom prst="roundRect">
            <a:avLst>
              <a:gd name="adj" fmla="val 6667"/>
            </a:avLst>
          </a:prstGeom>
          <a:solidFill>
            <a:srgbClr val="FFFFFF"/>
          </a:solidFill>
          <a:ln w="12700">
            <a:solidFill>
              <a:srgbClr val="D5DEE6"/>
            </a:solidFill>
            <a:prstDash val="solid"/>
          </a:ln>
        </p:spPr>
        <p:txBody>
          <a:bodyPr/>
          <a:lstStyle/>
          <a:p>
            <a:endParaRPr/>
          </a:p>
        </p:txBody>
      </p:sp>
      <p:sp>
        <p:nvSpPr>
          <p:cNvPr id="6" name="Text 3"/>
          <p:cNvSpPr txBox="1"/>
          <p:nvPr/>
        </p:nvSpPr>
        <p:spPr>
          <a:xfrm>
            <a:off x="640080" y="1554480"/>
            <a:ext cx="1691640" cy="1371600"/>
          </a:xfrm>
          <a:prstGeom prst="rect">
            <a:avLst/>
          </a:prstGeom>
          <a:noFill/>
          <a:ln/>
        </p:spPr>
        <p:txBody>
          <a:bodyPr wrap="square" lIns="0" tIns="0" rIns="0" bIns="0" rtlCol="0" anchor="ctr"/>
          <a:lstStyle/>
          <a:p>
            <a:pPr marL="0" indent="0" algn="ctr">
              <a:buNone/>
            </a:pPr>
            <a:r>
              <a:rPr lang="en-US" sz="1400" b="1" dirty="0">
                <a:solidFill>
                  <a:srgbClr val="12263A"/>
                </a:solidFill>
                <a:latin typeface="Calibri" pitchFamily="34" charset="0"/>
                <a:ea typeface="Calibri" pitchFamily="34" charset="-122"/>
                <a:cs typeface="Calibri" pitchFamily="34" charset="-120"/>
              </a:rPr>
              <a:t>facts.json</a:t>
            </a:r>
            <a:endParaRPr lang="en-US" sz="1400" dirty="0"/>
          </a:p>
          <a:p>
            <a:pPr marL="0" indent="0" algn="ctr">
              <a:buNone/>
            </a:pPr>
            <a:r>
              <a:rPr lang="en-US" sz="1400" b="1" dirty="0">
                <a:solidFill>
                  <a:srgbClr val="12263A"/>
                </a:solidFill>
                <a:latin typeface="Calibri" pitchFamily="34" charset="0"/>
                <a:ea typeface="Calibri" pitchFamily="34" charset="-122"/>
                <a:cs typeface="Calibri" pitchFamily="34" charset="-120"/>
              </a:rPr>
              <a:t>(numbers from maps)</a:t>
            </a:r>
            <a:endParaRPr lang="en-US" sz="1400" dirty="0"/>
          </a:p>
        </p:txBody>
      </p:sp>
      <p:sp>
        <p:nvSpPr>
          <p:cNvPr id="7" name="Text 4"/>
          <p:cNvSpPr txBox="1"/>
          <p:nvPr/>
        </p:nvSpPr>
        <p:spPr>
          <a:xfrm>
            <a:off x="2404872" y="1920240"/>
            <a:ext cx="274320" cy="548640"/>
          </a:xfrm>
          <a:prstGeom prst="rect">
            <a:avLst/>
          </a:prstGeom>
          <a:noFill/>
          <a:ln/>
        </p:spPr>
        <p:txBody>
          <a:bodyPr wrap="square" lIns="0" tIns="0" rIns="0" bIns="0" rtlCol="0" anchor="ctr"/>
          <a:lstStyle/>
          <a:p>
            <a:pPr marL="0" indent="0" algn="ctr">
              <a:buNone/>
            </a:pPr>
            <a:r>
              <a:rPr lang="en-US" sz="2000" dirty="0">
                <a:solidFill>
                  <a:srgbClr val="5B6B7A"/>
                </a:solidFill>
                <a:latin typeface="Calibri" pitchFamily="34" charset="0"/>
                <a:ea typeface="Calibri" pitchFamily="34" charset="-122"/>
                <a:cs typeface="Calibri" pitchFamily="34" charset="-120"/>
              </a:rPr>
              <a:t>→</a:t>
            </a:r>
            <a:endParaRPr lang="en-US" sz="2000" dirty="0"/>
          </a:p>
        </p:txBody>
      </p:sp>
      <p:sp>
        <p:nvSpPr>
          <p:cNvPr id="8" name="Shape 5"/>
          <p:cNvSpPr/>
          <p:nvPr/>
        </p:nvSpPr>
        <p:spPr>
          <a:xfrm>
            <a:off x="2633472" y="1554480"/>
            <a:ext cx="1874520" cy="1371600"/>
          </a:xfrm>
          <a:prstGeom prst="roundRect">
            <a:avLst>
              <a:gd name="adj" fmla="val 6667"/>
            </a:avLst>
          </a:prstGeom>
          <a:solidFill>
            <a:srgbClr val="FFFFFF"/>
          </a:solidFill>
          <a:ln w="12700">
            <a:solidFill>
              <a:srgbClr val="D5DEE6"/>
            </a:solidFill>
            <a:prstDash val="solid"/>
          </a:ln>
        </p:spPr>
        <p:txBody>
          <a:bodyPr/>
          <a:lstStyle/>
          <a:p>
            <a:endParaRPr/>
          </a:p>
        </p:txBody>
      </p:sp>
      <p:sp>
        <p:nvSpPr>
          <p:cNvPr id="9" name="Text 6"/>
          <p:cNvSpPr txBox="1"/>
          <p:nvPr/>
        </p:nvSpPr>
        <p:spPr>
          <a:xfrm>
            <a:off x="2724912" y="1554480"/>
            <a:ext cx="1691640" cy="1371600"/>
          </a:xfrm>
          <a:prstGeom prst="rect">
            <a:avLst/>
          </a:prstGeom>
          <a:noFill/>
          <a:ln/>
        </p:spPr>
        <p:txBody>
          <a:bodyPr wrap="square" lIns="0" tIns="0" rIns="0" bIns="0" rtlCol="0" anchor="ctr"/>
          <a:lstStyle/>
          <a:p>
            <a:pPr marL="0" indent="0" algn="ctr">
              <a:buNone/>
            </a:pPr>
            <a:r>
              <a:rPr lang="en-US" sz="1400" b="1" dirty="0">
                <a:solidFill>
                  <a:srgbClr val="12263A"/>
                </a:solidFill>
                <a:latin typeface="Calibri" pitchFamily="34" charset="0"/>
                <a:ea typeface="Calibri" pitchFamily="34" charset="-122"/>
                <a:cs typeface="Calibri" pitchFamily="34" charset="-120"/>
              </a:rPr>
              <a:t>LLM writes summary</a:t>
            </a:r>
            <a:endParaRPr lang="en-US" sz="1400" dirty="0"/>
          </a:p>
          <a:p>
            <a:pPr marL="0" indent="0" algn="ctr">
              <a:buNone/>
            </a:pPr>
            <a:r>
              <a:rPr lang="en-US" sz="1400" b="1" dirty="0">
                <a:solidFill>
                  <a:srgbClr val="12263A"/>
                </a:solidFill>
                <a:latin typeface="Calibri" pitchFamily="34" charset="0"/>
                <a:ea typeface="Calibri" pitchFamily="34" charset="-122"/>
                <a:cs typeface="Calibri" pitchFamily="34" charset="-120"/>
              </a:rPr>
              <a:t>English + Nepali</a:t>
            </a:r>
            <a:endParaRPr lang="en-US" sz="1400" dirty="0"/>
          </a:p>
        </p:txBody>
      </p:sp>
      <p:sp>
        <p:nvSpPr>
          <p:cNvPr id="10" name="Text 7"/>
          <p:cNvSpPr txBox="1"/>
          <p:nvPr/>
        </p:nvSpPr>
        <p:spPr>
          <a:xfrm>
            <a:off x="4489704" y="1920240"/>
            <a:ext cx="274320" cy="548640"/>
          </a:xfrm>
          <a:prstGeom prst="rect">
            <a:avLst/>
          </a:prstGeom>
          <a:noFill/>
          <a:ln/>
        </p:spPr>
        <p:txBody>
          <a:bodyPr wrap="square" lIns="0" tIns="0" rIns="0" bIns="0" rtlCol="0" anchor="ctr"/>
          <a:lstStyle/>
          <a:p>
            <a:pPr marL="0" indent="0" algn="ctr">
              <a:buNone/>
            </a:pPr>
            <a:r>
              <a:rPr lang="en-US" sz="2000" dirty="0">
                <a:solidFill>
                  <a:srgbClr val="5B6B7A"/>
                </a:solidFill>
                <a:latin typeface="Calibri" pitchFamily="34" charset="0"/>
                <a:ea typeface="Calibri" pitchFamily="34" charset="-122"/>
                <a:cs typeface="Calibri" pitchFamily="34" charset="-120"/>
              </a:rPr>
              <a:t>→</a:t>
            </a:r>
            <a:endParaRPr lang="en-US" sz="2000" dirty="0"/>
          </a:p>
        </p:txBody>
      </p:sp>
      <p:sp>
        <p:nvSpPr>
          <p:cNvPr id="11" name="Shape 8"/>
          <p:cNvSpPr/>
          <p:nvPr/>
        </p:nvSpPr>
        <p:spPr>
          <a:xfrm>
            <a:off x="4718304" y="1554480"/>
            <a:ext cx="1874520" cy="1371600"/>
          </a:xfrm>
          <a:prstGeom prst="roundRect">
            <a:avLst>
              <a:gd name="adj" fmla="val 6667"/>
            </a:avLst>
          </a:prstGeom>
          <a:solidFill>
            <a:srgbClr val="1FB5A3"/>
          </a:solidFill>
          <a:ln w="12700">
            <a:solidFill>
              <a:srgbClr val="D5DEE6"/>
            </a:solidFill>
            <a:prstDash val="solid"/>
          </a:ln>
        </p:spPr>
        <p:txBody>
          <a:bodyPr/>
          <a:lstStyle/>
          <a:p>
            <a:endParaRPr/>
          </a:p>
        </p:txBody>
      </p:sp>
      <p:sp>
        <p:nvSpPr>
          <p:cNvPr id="12" name="Text 9"/>
          <p:cNvSpPr txBox="1"/>
          <p:nvPr/>
        </p:nvSpPr>
        <p:spPr>
          <a:xfrm>
            <a:off x="4809744" y="1554480"/>
            <a:ext cx="1691640" cy="137160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Check every number</a:t>
            </a:r>
            <a:endParaRPr lang="en-US" sz="1400" dirty="0"/>
          </a:p>
          <a:p>
            <a:pPr marL="0" indent="0" algn="ctr">
              <a:buNone/>
            </a:pPr>
            <a:r>
              <a:rPr lang="en-US" sz="1400" b="1" dirty="0">
                <a:solidFill>
                  <a:srgbClr val="FFFFFF"/>
                </a:solidFill>
                <a:latin typeface="Calibri" pitchFamily="34" charset="0"/>
                <a:ea typeface="Calibri" pitchFamily="34" charset="-122"/>
                <a:cs typeface="Calibri" pitchFamily="34" charset="-120"/>
              </a:rPr>
              <a:t>against facts.json</a:t>
            </a:r>
            <a:endParaRPr lang="en-US" sz="1400" dirty="0"/>
          </a:p>
        </p:txBody>
      </p:sp>
      <p:sp>
        <p:nvSpPr>
          <p:cNvPr id="13" name="Text 10"/>
          <p:cNvSpPr txBox="1"/>
          <p:nvPr/>
        </p:nvSpPr>
        <p:spPr>
          <a:xfrm>
            <a:off x="6574536" y="1920240"/>
            <a:ext cx="274320" cy="548640"/>
          </a:xfrm>
          <a:prstGeom prst="rect">
            <a:avLst/>
          </a:prstGeom>
          <a:noFill/>
          <a:ln/>
        </p:spPr>
        <p:txBody>
          <a:bodyPr wrap="square" lIns="0" tIns="0" rIns="0" bIns="0" rtlCol="0" anchor="ctr"/>
          <a:lstStyle/>
          <a:p>
            <a:pPr marL="0" indent="0" algn="ctr">
              <a:buNone/>
            </a:pPr>
            <a:r>
              <a:rPr lang="en-US" sz="2000" dirty="0">
                <a:solidFill>
                  <a:srgbClr val="5B6B7A"/>
                </a:solidFill>
                <a:latin typeface="Calibri" pitchFamily="34" charset="0"/>
                <a:ea typeface="Calibri" pitchFamily="34" charset="-122"/>
                <a:cs typeface="Calibri" pitchFamily="34" charset="-120"/>
              </a:rPr>
              <a:t>→</a:t>
            </a:r>
            <a:endParaRPr lang="en-US" sz="2000" dirty="0"/>
          </a:p>
        </p:txBody>
      </p:sp>
      <p:sp>
        <p:nvSpPr>
          <p:cNvPr id="14" name="Shape 11"/>
          <p:cNvSpPr/>
          <p:nvPr/>
        </p:nvSpPr>
        <p:spPr>
          <a:xfrm>
            <a:off x="6803136" y="1554480"/>
            <a:ext cx="1874520" cy="1371600"/>
          </a:xfrm>
          <a:prstGeom prst="roundRect">
            <a:avLst>
              <a:gd name="adj" fmla="val 6667"/>
            </a:avLst>
          </a:prstGeom>
          <a:solidFill>
            <a:srgbClr val="FFFFFF"/>
          </a:solidFill>
          <a:ln w="12700">
            <a:solidFill>
              <a:srgbClr val="D5DEE6"/>
            </a:solidFill>
            <a:prstDash val="solid"/>
          </a:ln>
        </p:spPr>
        <p:txBody>
          <a:bodyPr/>
          <a:lstStyle/>
          <a:p>
            <a:endParaRPr/>
          </a:p>
        </p:txBody>
      </p:sp>
      <p:sp>
        <p:nvSpPr>
          <p:cNvPr id="15" name="Text 12"/>
          <p:cNvSpPr txBox="1"/>
          <p:nvPr/>
        </p:nvSpPr>
        <p:spPr>
          <a:xfrm>
            <a:off x="6894576" y="1554480"/>
            <a:ext cx="1691640" cy="1371600"/>
          </a:xfrm>
          <a:prstGeom prst="rect">
            <a:avLst/>
          </a:prstGeom>
          <a:noFill/>
          <a:ln/>
        </p:spPr>
        <p:txBody>
          <a:bodyPr wrap="square" lIns="0" tIns="0" rIns="0" bIns="0" rtlCol="0" anchor="ctr"/>
          <a:lstStyle/>
          <a:p>
            <a:pPr marL="0" indent="0" algn="ctr">
              <a:buNone/>
            </a:pPr>
            <a:r>
              <a:rPr lang="en-US" sz="1400" b="1" dirty="0">
                <a:solidFill>
                  <a:srgbClr val="12263A"/>
                </a:solidFill>
                <a:latin typeface="Calibri" pitchFamily="34" charset="0"/>
                <a:ea typeface="Calibri" pitchFamily="34" charset="-122"/>
                <a:cs typeface="Calibri" pitchFamily="34" charset="-120"/>
              </a:rPr>
              <a:t>Rewrite up to 3 times,</a:t>
            </a:r>
            <a:endParaRPr lang="en-US" sz="1400" dirty="0"/>
          </a:p>
          <a:p>
            <a:pPr marL="0" indent="0" algn="ctr">
              <a:buNone/>
            </a:pPr>
            <a:r>
              <a:rPr lang="en-US" sz="1400" b="1" dirty="0">
                <a:solidFill>
                  <a:srgbClr val="12263A"/>
                </a:solidFill>
                <a:latin typeface="Calibri" pitchFamily="34" charset="0"/>
                <a:ea typeface="Calibri" pitchFamily="34" charset="-122"/>
                <a:cs typeface="Calibri" pitchFamily="34" charset="-120"/>
              </a:rPr>
              <a:t>else leave AI text out</a:t>
            </a:r>
            <a:endParaRPr lang="en-US" sz="1400" dirty="0"/>
          </a:p>
        </p:txBody>
      </p:sp>
      <p:sp>
        <p:nvSpPr>
          <p:cNvPr id="16" name="Text 13"/>
          <p:cNvSpPr txBox="1"/>
          <p:nvPr/>
        </p:nvSpPr>
        <p:spPr>
          <a:xfrm>
            <a:off x="548640" y="3474720"/>
            <a:ext cx="8046720" cy="457200"/>
          </a:xfrm>
          <a:prstGeom prst="rect">
            <a:avLst/>
          </a:prstGeom>
          <a:noFill/>
          <a:ln/>
        </p:spPr>
        <p:txBody>
          <a:bodyPr wrap="square" lIns="0" tIns="0" rIns="0" bIns="0" rtlCol="0" anchor="ctr"/>
          <a:lstStyle/>
          <a:p>
            <a:pPr marL="0" indent="0">
              <a:buNone/>
            </a:pPr>
            <a:r>
              <a:rPr lang="en-US" sz="1600" i="1" dirty="0">
                <a:solidFill>
                  <a:srgbClr val="5B6B7A"/>
                </a:solidFill>
                <a:latin typeface="Calibri" pitchFamily="34" charset="0"/>
                <a:ea typeface="Calibri" pitchFamily="34" charset="-122"/>
                <a:cs typeface="Calibri" pitchFamily="34" charset="-120"/>
              </a:rPr>
              <a:t>The report's figures come straight from facts.json; the model only sees that file.</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3F7FA"/>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1FB5A3"/>
          </a:solidFill>
          <a:ln w="12700">
            <a:solidFill>
              <a:srgbClr val="1FB5A3"/>
            </a:solidFill>
            <a:prstDash val="solid"/>
          </a:ln>
        </p:spPr>
        <p:txBody>
          <a:bodyPr/>
          <a:lstStyle/>
          <a:p>
            <a:endParaRPr/>
          </a:p>
        </p:txBody>
      </p:sp>
      <p:sp>
        <p:nvSpPr>
          <p:cNvPr id="3" name="Text 1"/>
          <p:cNvSpPr txBox="1"/>
          <p:nvPr/>
        </p:nvSpPr>
        <p:spPr>
          <a:xfrm>
            <a:off x="548640" y="320040"/>
            <a:ext cx="8046720" cy="640080"/>
          </a:xfrm>
          <a:prstGeom prst="rect">
            <a:avLst/>
          </a:prstGeom>
          <a:noFill/>
          <a:ln/>
        </p:spPr>
        <p:txBody>
          <a:bodyPr wrap="square" lIns="0" tIns="0" rIns="0" bIns="0" rtlCol="0" anchor="ctr"/>
          <a:lstStyle/>
          <a:p>
            <a:pPr marL="0" indent="0">
              <a:buNone/>
            </a:pPr>
            <a:r>
              <a:rPr lang="en-US" sz="3000" b="1" dirty="0">
                <a:solidFill>
                  <a:srgbClr val="12263A"/>
                </a:solidFill>
                <a:latin typeface="Calibri" pitchFamily="34" charset="0"/>
                <a:ea typeface="Calibri" pitchFamily="34" charset="-122"/>
                <a:cs typeface="Calibri" pitchFamily="34" charset="-120"/>
              </a:rPr>
              <a:t>Honest limitations</a:t>
            </a:r>
            <a:endParaRPr lang="en-US" sz="3000" dirty="0"/>
          </a:p>
        </p:txBody>
      </p:sp>
      <p:sp>
        <p:nvSpPr>
          <p:cNvPr id="5" name="Text 2"/>
          <p:cNvSpPr txBox="1"/>
          <p:nvPr/>
        </p:nvSpPr>
        <p:spPr>
          <a:xfrm>
            <a:off x="548640" y="1280160"/>
            <a:ext cx="8046720" cy="3108960"/>
          </a:xfrm>
          <a:prstGeom prst="rect">
            <a:avLst/>
          </a:prstGeom>
          <a:noFill/>
          <a:ln/>
        </p:spPr>
        <p:txBody>
          <a:bodyPr wrap="square" lIns="0" tIns="0" rIns="0" bIns="0" rtlCol="0" anchor="t"/>
          <a:lstStyle/>
          <a:p>
            <a:pPr marL="342900" indent="-342900">
              <a:spcAft>
                <a:spcPts val="1200"/>
              </a:spcAft>
              <a:buSzPct val="100000"/>
              <a:buChar char="•"/>
            </a:pPr>
            <a:r>
              <a:rPr lang="en-US" sz="2000" dirty="0">
                <a:solidFill>
                  <a:srgbClr val="12263A"/>
                </a:solidFill>
                <a:latin typeface="Calibri" pitchFamily="34" charset="0"/>
                <a:ea typeface="Calibri" pitchFamily="34" charset="-122"/>
                <a:cs typeface="Calibri" pitchFamily="34" charset="-120"/>
              </a:rPr>
              <a:t>EMSR927 check, inside its areas: IoU 0.16, precision 0.93, recall 0.16 (first run: 0)</a:t>
            </a:r>
            <a:endParaRPr lang="en-US" sz="2000" dirty="0"/>
          </a:p>
          <a:p>
            <a:pPr marL="342900" indent="-342900">
              <a:spcAft>
                <a:spcPts val="1200"/>
              </a:spcAft>
              <a:buSzPct val="100000"/>
              <a:buChar char="•"/>
            </a:pPr>
            <a:r>
              <a:rPr lang="en-US" sz="2000" dirty="0">
                <a:solidFill>
                  <a:srgbClr val="12263A"/>
                </a:solidFill>
                <a:latin typeface="Calibri" pitchFamily="34" charset="0"/>
                <a:ea typeface="Calibri" pitchFamily="34" charset="-122"/>
                <a:cs typeface="Calibri" pitchFamily="34" charset="-120"/>
              </a:rPr>
              <a:t>Only 0.42 of 9.77 km² of the mask lies inside the EMSR927 areas; the rest could not be checked</a:t>
            </a:r>
            <a:endParaRPr lang="en-US" sz="2000" dirty="0"/>
          </a:p>
          <a:p>
            <a:pPr marL="342900" indent="-342900">
              <a:spcAft>
                <a:spcPts val="1200"/>
              </a:spcAft>
              <a:buSzPct val="100000"/>
              <a:buChar char="•"/>
            </a:pPr>
            <a:r>
              <a:rPr lang="en-US" sz="2000" dirty="0">
                <a:solidFill>
                  <a:srgbClr val="12263A"/>
                </a:solidFill>
                <a:latin typeface="Calibri" pitchFamily="34" charset="0"/>
                <a:ea typeface="Calibri" pitchFamily="34" charset="-122"/>
                <a:cs typeface="Calibri" pitchFamily="34" charset="-120"/>
              </a:rPr>
              <a:t>OSM is thin in remote valleys: cut-off can hinge on one road segment</a:t>
            </a:r>
            <a:endParaRPr lang="en-US" sz="2000" dirty="0"/>
          </a:p>
          <a:p>
            <a:pPr marL="342900" indent="-342900">
              <a:spcAft>
                <a:spcPts val="1200"/>
              </a:spcAft>
              <a:buSzPct val="100000"/>
              <a:buChar char="•"/>
            </a:pPr>
            <a:r>
              <a:rPr lang="en-US" sz="2000" dirty="0">
                <a:solidFill>
                  <a:srgbClr val="12263A"/>
                </a:solidFill>
                <a:latin typeface="Calibri" pitchFamily="34" charset="0"/>
                <a:ea typeface="Calibri" pitchFamily="34" charset="-122"/>
                <a:cs typeface="Calibri" pitchFamily="34" charset="-120"/>
              </a:rPr>
              <a:t>Satellites revisit every few days: no early warning</a:t>
            </a:r>
            <a:endParaRPr lang="en-US" sz="2000" dirty="0"/>
          </a:p>
          <a:p>
            <a:pPr marL="342900" indent="-342900">
              <a:spcAft>
                <a:spcPts val="1200"/>
              </a:spcAft>
              <a:buSzPct val="100000"/>
              <a:buChar char="•"/>
            </a:pPr>
            <a:r>
              <a:rPr lang="en-US" sz="2000" dirty="0">
                <a:solidFill>
                  <a:srgbClr val="12263A"/>
                </a:solidFill>
                <a:latin typeface="Calibri" pitchFamily="34" charset="0"/>
                <a:ea typeface="Calibri" pitchFamily="34" charset="-122"/>
                <a:cs typeface="Calibri" pitchFamily="34" charset="-120"/>
              </a:rPr>
              <a:t>Damage is inferred from overlap, not field-verified</a:t>
            </a:r>
            <a:endParaRPr lang="en-US" sz="2000" dirty="0"/>
          </a:p>
          <a:p>
            <a:pPr marL="342900" indent="-342900">
              <a:spcAft>
                <a:spcPts val="1200"/>
              </a:spcAft>
              <a:buSzPct val="100000"/>
              <a:buChar char="•"/>
            </a:pPr>
            <a:r>
              <a:rPr lang="en-US" sz="2000" dirty="0">
                <a:solidFill>
                  <a:srgbClr val="12263A"/>
                </a:solidFill>
                <a:latin typeface="Calibri" pitchFamily="34" charset="0"/>
                <a:ea typeface="Calibri" pitchFamily="34" charset="-122"/>
                <a:cs typeface="Calibri" pitchFamily="34" charset="-120"/>
              </a:rPr>
              <a:t>Detected area depends on the threshold: 1.6 km² at 4 dB, 29.1 km² at 2 dB (radar only)</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1FB5A3"/>
          </a:solidFill>
          <a:ln w="12700">
            <a:solidFill>
              <a:srgbClr val="1FB5A3"/>
            </a:solidFill>
            <a:prstDash val="solid"/>
          </a:ln>
        </p:spPr>
        <p:txBody>
          <a:bodyPr/>
          <a:lstStyle/>
          <a:p>
            <a:endParaRPr/>
          </a:p>
        </p:txBody>
      </p:sp>
      <p:sp>
        <p:nvSpPr>
          <p:cNvPr id="3" name="Text 1"/>
          <p:cNvSpPr txBox="1"/>
          <p:nvPr/>
        </p:nvSpPr>
        <p:spPr>
          <a:xfrm>
            <a:off x="640080" y="731520"/>
            <a:ext cx="7863840" cy="731520"/>
          </a:xfrm>
          <a:prstGeom prst="rect">
            <a:avLst/>
          </a:prstGeom>
          <a:noFill/>
          <a:ln/>
        </p:spPr>
        <p:txBody>
          <a:bodyPr wrap="square" lIns="0" tIns="0" rIns="0" bIns="0" rtlCol="0" anchor="ctr"/>
          <a:lstStyle/>
          <a:p>
            <a:pPr marL="0" indent="0">
              <a:buNone/>
            </a:pPr>
            <a:r>
              <a:rPr lang="en-US" sz="3600" b="1" dirty="0">
                <a:solidFill>
                  <a:srgbClr val="FFFFFF"/>
                </a:solidFill>
                <a:latin typeface="Calibri" pitchFamily="34" charset="0"/>
                <a:ea typeface="Calibri" pitchFamily="34" charset="-122"/>
                <a:cs typeface="Calibri" pitchFamily="34" charset="-120"/>
              </a:rPr>
              <a:t>Next steps</a:t>
            </a:r>
            <a:endParaRPr lang="en-US" sz="3600" dirty="0"/>
          </a:p>
        </p:txBody>
      </p:sp>
      <p:sp>
        <p:nvSpPr>
          <p:cNvPr id="4" name="Text 2"/>
          <p:cNvSpPr txBox="1"/>
          <p:nvPr/>
        </p:nvSpPr>
        <p:spPr>
          <a:xfrm>
            <a:off x="640080" y="1645920"/>
            <a:ext cx="7863840" cy="1463040"/>
          </a:xfrm>
          <a:prstGeom prst="rect">
            <a:avLst/>
          </a:prstGeom>
          <a:noFill/>
          <a:ln/>
        </p:spPr>
        <p:txBody>
          <a:bodyPr wrap="square" lIns="0" tIns="0" rIns="0" bIns="0" rtlCol="0" anchor="ctr"/>
          <a:lstStyle/>
          <a:p>
            <a:pPr marL="342900" indent="-342900">
              <a:spcAft>
                <a:spcPts val="1000"/>
              </a:spcAft>
              <a:buSzPct val="100000"/>
              <a:buChar char="•"/>
            </a:pPr>
            <a:r>
              <a:rPr lang="en-US" sz="2000" dirty="0">
                <a:solidFill>
                  <a:srgbClr val="FFFFFF"/>
                </a:solidFill>
                <a:latin typeface="Calibri" pitchFamily="34" charset="0"/>
                <a:ea typeface="Calibri" pitchFamily="34" charset="-122"/>
                <a:cs typeface="Calibri" pitchFamily="34" charset="-120"/>
              </a:rPr>
              <a:t>Calibrate thresholds on more flood events</a:t>
            </a:r>
            <a:endParaRPr lang="en-US" sz="2000" dirty="0"/>
          </a:p>
          <a:p>
            <a:pPr marL="342900" indent="-342900">
              <a:spcAft>
                <a:spcPts val="1000"/>
              </a:spcAft>
              <a:buSzPct val="100000"/>
              <a:buChar char="•"/>
            </a:pPr>
            <a:r>
              <a:rPr lang="en-US" sz="2000" dirty="0">
                <a:solidFill>
                  <a:srgbClr val="FFFFFF"/>
                </a:solidFill>
                <a:latin typeface="Calibri" pitchFamily="34" charset="0"/>
                <a:ea typeface="Calibri" pitchFamily="34" charset="-122"/>
                <a:cs typeface="Calibri" pitchFamily="34" charset="-120"/>
              </a:rPr>
              <a:t>Add richer road data beyond OSM</a:t>
            </a:r>
            <a:endParaRPr lang="en-US" sz="2000" dirty="0"/>
          </a:p>
          <a:p>
            <a:pPr marL="342900" indent="-342900">
              <a:spcAft>
                <a:spcPts val="1000"/>
              </a:spcAft>
              <a:buSzPct val="100000"/>
              <a:buChar char="•"/>
            </a:pPr>
            <a:r>
              <a:rPr lang="en-US" sz="2000" dirty="0">
                <a:solidFill>
                  <a:srgbClr val="FFFFFF"/>
                </a:solidFill>
                <a:latin typeface="Calibri" pitchFamily="34" charset="0"/>
                <a:ea typeface="Calibri" pitchFamily="34" charset="-122"/>
                <a:cs typeface="Calibri" pitchFamily="34" charset="-120"/>
              </a:rPr>
              <a:t>Validate with field and responder feedback</a:t>
            </a:r>
            <a:endParaRPr lang="en-US" sz="2000" dirty="0"/>
          </a:p>
        </p:txBody>
      </p:sp>
      <p:sp>
        <p:nvSpPr>
          <p:cNvPr id="5" name="Text 3"/>
          <p:cNvSpPr txBox="1"/>
          <p:nvPr/>
        </p:nvSpPr>
        <p:spPr>
          <a:xfrm>
            <a:off x="640080" y="3657600"/>
            <a:ext cx="7863840" cy="914400"/>
          </a:xfrm>
          <a:prstGeom prst="rect">
            <a:avLst/>
          </a:prstGeom>
          <a:noFill/>
          <a:ln/>
        </p:spPr>
        <p:txBody>
          <a:bodyPr wrap="square" lIns="0" tIns="0" rIns="0" bIns="0" rtlCol="0" anchor="ctr"/>
          <a:lstStyle/>
          <a:p>
            <a:pPr marL="0" indent="0">
              <a:buNone/>
            </a:pPr>
            <a:r>
              <a:rPr lang="en-US" sz="1400" dirty="0">
                <a:solidFill>
                  <a:srgbClr val="C9D6E2"/>
                </a:solidFill>
                <a:latin typeface="Calibri" pitchFamily="34" charset="0"/>
                <a:ea typeface="Calibri" pitchFamily="34" charset="-122"/>
                <a:cs typeface="Calibri" pitchFamily="34" charset="-120"/>
              </a:rPr>
              <a:t>Thank you </a:t>
            </a:r>
            <a:r>
              <a:rPr lang="en-US" sz="1400">
                <a:solidFill>
                  <a:srgbClr val="C9D6E2"/>
                </a:solidFill>
                <a:latin typeface="Calibri" pitchFamily="34" charset="0"/>
                <a:ea typeface="Calibri" pitchFamily="34" charset="-122"/>
                <a:cs typeface="Calibri" pitchFamily="34" charset="-120"/>
              </a:rPr>
              <a:t>· Team </a:t>
            </a:r>
            <a:r>
              <a:rPr lang="en-US" sz="1400" dirty="0">
                <a:solidFill>
                  <a:srgbClr val="C9D6E2"/>
                </a:solidFill>
                <a:latin typeface="Calibri" pitchFamily="34" charset="0"/>
                <a:ea typeface="Calibri" pitchFamily="34" charset="-122"/>
                <a:cs typeface="Calibri" pitchFamily="34" charset="-120"/>
              </a:rPr>
              <a:t>Timepass: Nitin Raj (leader), Shaurya Priyam, Ratnadeep Paul</a:t>
            </a:r>
            <a:endParaRPr lang="en-US" sz="1400" dirty="0"/>
          </a:p>
          <a:p>
            <a:pPr marL="0" indent="0">
              <a:buNone/>
            </a:pPr>
            <a:r>
              <a:rPr lang="en-US" sz="1400" dirty="0">
                <a:solidFill>
                  <a:srgbClr val="C9D6E2"/>
                </a:solidFill>
                <a:latin typeface="Calibri" pitchFamily="34" charset="0"/>
                <a:ea typeface="Calibri" pitchFamily="34" charset="-122"/>
                <a:cs typeface="Calibri" pitchFamily="34" charset="-120"/>
              </a:rPr>
              <a:t>Contains modified Copernicus Sentinel data 2026 · © OpenStreetMap contributors</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1522</Words>
  <Application>Microsoft Office PowerPoint</Application>
  <PresentationFormat>On-screen Show (16:9)</PresentationFormat>
  <Paragraphs>95</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FloodWatch</dc:title>
  <dc:subject>PptxGenJS Presentation</dc:subject>
  <dc:creator>PptxGenJS</dc:creator>
  <cp:lastModifiedBy>Shaurya priyam</cp:lastModifiedBy>
  <cp:revision>2</cp:revision>
  <dcterms:created xsi:type="dcterms:W3CDTF">2026-10-14T18:04:55Z</dcterms:created>
  <dcterms:modified xsi:type="dcterms:W3CDTF">2026-10-15T05:06:56Z</dcterms:modified>
</cp:coreProperties>
</file>